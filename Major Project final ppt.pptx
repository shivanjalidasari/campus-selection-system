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7" r:id="rId17"/>
    <p:sldId id="270" r:id="rId18"/>
    <p:sldId id="276" r:id="rId19"/>
    <p:sldId id="272" r:id="rId20"/>
    <p:sldId id="273" r:id="rId21"/>
    <p:sldId id="274" r:id="rId22"/>
    <p:sldId id="275" r:id="rId23"/>
  </p:sldIdLst>
  <p:sldSz cx="9144000" cy="6858000" type="screen4x3"/>
  <p:notesSz cx="6858000" cy="9144000"/>
  <p:embeddedFontLst>
    <p:embeddedFont>
      <p:font typeface="Arial Black" panose="020B0A04020102020204" pitchFamily="34" charset="0"/>
      <p:regular r:id="rId25"/>
      <p:bold r:id="rId26"/>
    </p:embeddedFont>
    <p:embeddedFont>
      <p:font typeface="Bookman Old Style" panose="02050604050505020204" pitchFamily="18" charset="0"/>
      <p:regular r:id="rId27"/>
      <p:bold r:id="rId28"/>
      <p:italic r:id="rId29"/>
      <p:boldItalic r:id="rId30"/>
    </p:embeddedFont>
    <p:embeddedFont>
      <p:font typeface="Calibri" panose="020F050202020403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8EC1FA-0574-4290-BDFC-C8C61E09E3AC}">
  <a:tblStyle styleId="{8A8EC1FA-0574-4290-BDFC-C8C61E09E3AC}"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9" d="100"/>
          <a:sy n="59" d="100"/>
        </p:scale>
        <p:origin x="592"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67" name="Google Shape;67;p2:notes"/>
          <p:cNvSpPr/>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2</a:t>
            </a:fld>
            <a:endParaRPr sz="1800">
              <a:solidFill>
                <a:schemeClr val="dk1"/>
              </a:solidFill>
              <a:latin typeface="Arial"/>
              <a:ea typeface="Arial"/>
              <a:cs typeface="Arial"/>
              <a:sym typeface="Arial"/>
            </a:endParaRPr>
          </a:p>
        </p:txBody>
      </p:sp>
      <p:sp>
        <p:nvSpPr>
          <p:cNvPr id="68" name="Google Shape;6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txBox="1">
            <a:spLocks noGrp="1"/>
          </p:cNvSpPr>
          <p:nvPr>
            <p:ph type="body" idx="1"/>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75" name="Google Shape;75;p3:notes"/>
          <p:cNvSpPr/>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3</a:t>
            </a:fld>
            <a:endParaRPr sz="1800">
              <a:solidFill>
                <a:schemeClr val="dk1"/>
              </a:solidFill>
              <a:latin typeface="Arial"/>
              <a:ea typeface="Arial"/>
              <a:cs typeface="Arial"/>
              <a:sym typeface="Arial"/>
            </a:endParaRPr>
          </a:p>
        </p:txBody>
      </p:sp>
      <p:sp>
        <p:nvSpPr>
          <p:cNvPr id="76" name="Google Shape;7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 name="Google Shape;84;p4:notes"/>
          <p:cNvSpPr txBox="1">
            <a:spLocks noGrp="1"/>
          </p:cNvSpPr>
          <p:nvPr>
            <p:ph type="sldNum" idx="12"/>
          </p:nvPr>
        </p:nvSpPr>
        <p:spPr>
          <a:xfrm>
            <a:off x="4279320" y="10157400"/>
            <a:ext cx="3280320" cy="53424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5:notes"/>
          <p:cNvSpPr txBox="1">
            <a:spLocks noGrp="1"/>
          </p:cNvSpPr>
          <p:nvPr>
            <p:ph type="body" idx="1"/>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91" name="Google Shape;91;p5:notes"/>
          <p:cNvSpPr/>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5</a:t>
            </a:fld>
            <a:endParaRPr sz="1800">
              <a:solidFill>
                <a:schemeClr val="dk1"/>
              </a:solidFill>
              <a:latin typeface="Arial"/>
              <a:ea typeface="Arial"/>
              <a:cs typeface="Arial"/>
              <a:sym typeface="Arial"/>
            </a:endParaRPr>
          </a:p>
        </p:txBody>
      </p:sp>
      <p:sp>
        <p:nvSpPr>
          <p:cNvPr id="92" name="Google Shape;9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6:notes"/>
          <p:cNvSpPr txBox="1">
            <a:spLocks noGrp="1"/>
          </p:cNvSpPr>
          <p:nvPr>
            <p:ph type="body" idx="1"/>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98" name="Google Shape;98;p6:notes"/>
          <p:cNvSpPr/>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6</a:t>
            </a:fld>
            <a:endParaRPr sz="1800">
              <a:solidFill>
                <a:schemeClr val="dk1"/>
              </a:solidFill>
              <a:latin typeface="Arial"/>
              <a:ea typeface="Arial"/>
              <a:cs typeface="Arial"/>
              <a:sym typeface="Arial"/>
            </a:endParaRPr>
          </a:p>
        </p:txBody>
      </p:sp>
      <p:sp>
        <p:nvSpPr>
          <p:cNvPr id="99" name="Google Shape;9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7:notes"/>
          <p:cNvSpPr txBox="1">
            <a:spLocks noGrp="1"/>
          </p:cNvSpPr>
          <p:nvPr>
            <p:ph type="body" idx="1"/>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107" name="Google Shape;107;p7:notes"/>
          <p:cNvSpPr/>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7</a:t>
            </a:fld>
            <a:endParaRPr sz="1800">
              <a:solidFill>
                <a:schemeClr val="dk1"/>
              </a:solidFill>
              <a:latin typeface="Arial"/>
              <a:ea typeface="Arial"/>
              <a:cs typeface="Arial"/>
              <a:sym typeface="Arial"/>
            </a:endParaRPr>
          </a:p>
        </p:txBody>
      </p:sp>
      <p:sp>
        <p:nvSpPr>
          <p:cNvPr id="108" name="Google Shape;10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9:notes"/>
          <p:cNvSpPr txBox="1">
            <a:spLocks noGrp="1"/>
          </p:cNvSpPr>
          <p:nvPr>
            <p:ph type="body" idx="1"/>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122" name="Google Shape;122;p9:notes"/>
          <p:cNvSpPr/>
          <p:nvPr/>
        </p:nvSpPr>
        <p:spPr>
          <a:xfrm>
            <a:off x="0" y="0"/>
            <a:ext cx="11796480" cy="117964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9</a:t>
            </a:fld>
            <a:endParaRPr sz="1800">
              <a:solidFill>
                <a:schemeClr val="dk1"/>
              </a:solidFill>
              <a:latin typeface="Arial"/>
              <a:ea typeface="Arial"/>
              <a:cs typeface="Arial"/>
              <a:sym typeface="Arial"/>
            </a:endParaRPr>
          </a:p>
        </p:txBody>
      </p:sp>
      <p:sp>
        <p:nvSpPr>
          <p:cNvPr id="123" name="Google Shape;12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94da1dae54_0_0:notes"/>
          <p:cNvSpPr txBox="1">
            <a:spLocks noGrp="1"/>
          </p:cNvSpPr>
          <p:nvPr>
            <p:ph type="body" idx="1"/>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137" name="Google Shape;137;g294da1dae54_0_0:notes"/>
          <p:cNvSpPr/>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11</a:t>
            </a:fld>
            <a:endParaRPr sz="1800">
              <a:solidFill>
                <a:schemeClr val="dk1"/>
              </a:solidFill>
              <a:latin typeface="Arial"/>
              <a:ea typeface="Arial"/>
              <a:cs typeface="Arial"/>
              <a:sym typeface="Arial"/>
            </a:endParaRPr>
          </a:p>
        </p:txBody>
      </p:sp>
      <p:sp>
        <p:nvSpPr>
          <p:cNvPr id="138" name="Google Shape;138;g294da1dae54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94da1dae54_0_7:notes"/>
          <p:cNvSpPr txBox="1">
            <a:spLocks noGrp="1"/>
          </p:cNvSpPr>
          <p:nvPr>
            <p:ph type="body" idx="1"/>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152" name="Google Shape;152;g294da1dae54_0_7:notes"/>
          <p:cNvSpPr/>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13</a:t>
            </a:fld>
            <a:endParaRPr sz="1800">
              <a:solidFill>
                <a:schemeClr val="dk1"/>
              </a:solidFill>
              <a:latin typeface="Arial"/>
              <a:ea typeface="Arial"/>
              <a:cs typeface="Arial"/>
              <a:sym typeface="Arial"/>
            </a:endParaRPr>
          </a:p>
        </p:txBody>
      </p:sp>
      <p:sp>
        <p:nvSpPr>
          <p:cNvPr id="153" name="Google Shape;153;g294da1dae54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94da1dae5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g294da1dae54_0_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94ef72124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294ef72124c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94da1dae54_0_7:notes"/>
          <p:cNvSpPr txBox="1">
            <a:spLocks noGrp="1"/>
          </p:cNvSpPr>
          <p:nvPr>
            <p:ph type="body" idx="1"/>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152" name="Google Shape;152;g294da1dae54_0_7:notes"/>
          <p:cNvSpPr/>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16</a:t>
            </a:fld>
            <a:endParaRPr sz="1800">
              <a:solidFill>
                <a:schemeClr val="dk1"/>
              </a:solidFill>
              <a:latin typeface="Arial"/>
              <a:ea typeface="Arial"/>
              <a:cs typeface="Arial"/>
              <a:sym typeface="Arial"/>
            </a:endParaRPr>
          </a:p>
        </p:txBody>
      </p:sp>
      <p:sp>
        <p:nvSpPr>
          <p:cNvPr id="153" name="Google Shape;153;g294da1dae54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6128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94ef72124c_0_0:notes"/>
          <p:cNvSpPr txBox="1">
            <a:spLocks noGrp="1"/>
          </p:cNvSpPr>
          <p:nvPr>
            <p:ph type="body" idx="1"/>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167" name="Google Shape;167;g294ef72124c_0_0:notes"/>
          <p:cNvSpPr/>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17</a:t>
            </a:fld>
            <a:endParaRPr sz="1800">
              <a:solidFill>
                <a:schemeClr val="dk1"/>
              </a:solidFill>
              <a:latin typeface="Arial"/>
              <a:ea typeface="Arial"/>
              <a:cs typeface="Arial"/>
              <a:sym typeface="Arial"/>
            </a:endParaRPr>
          </a:p>
        </p:txBody>
      </p:sp>
      <p:sp>
        <p:nvSpPr>
          <p:cNvPr id="168" name="Google Shape;168;g294ef72124c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94ef72124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294ef72124c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9831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94ef72124c_0_7:notes"/>
          <p:cNvSpPr txBox="1">
            <a:spLocks noGrp="1"/>
          </p:cNvSpPr>
          <p:nvPr>
            <p:ph type="body" idx="1"/>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endParaRPr/>
          </a:p>
        </p:txBody>
      </p:sp>
      <p:sp>
        <p:nvSpPr>
          <p:cNvPr id="182" name="Google Shape;182;g294ef72124c_0_7:notes"/>
          <p:cNvSpPr/>
          <p:nvPr/>
        </p:nvSpPr>
        <p:spPr>
          <a:xfrm>
            <a:off x="0" y="0"/>
            <a:ext cx="11796600" cy="117966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fld id="{00000000-1234-1234-1234-123412341234}" type="slidenum">
              <a:rPr lang="en-US" sz="1800">
                <a:solidFill>
                  <a:srgbClr val="000000"/>
                </a:solidFill>
                <a:latin typeface="Arial"/>
                <a:ea typeface="Arial"/>
                <a:cs typeface="Arial"/>
                <a:sym typeface="Arial"/>
              </a:rPr>
              <a:t>19</a:t>
            </a:fld>
            <a:endParaRPr sz="1800">
              <a:solidFill>
                <a:schemeClr val="dk1"/>
              </a:solidFill>
              <a:latin typeface="Arial"/>
              <a:ea typeface="Arial"/>
              <a:cs typeface="Arial"/>
              <a:sym typeface="Arial"/>
            </a:endParaRPr>
          </a:p>
        </p:txBody>
      </p:sp>
      <p:sp>
        <p:nvSpPr>
          <p:cNvPr id="183" name="Google Shape;183;g294ef72124c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10;p2"/>
          <p:cNvSpPr txBox="1">
            <a:spLocks noGrp="1"/>
          </p:cNvSpPr>
          <p:nvPr>
            <p:ph type="body" idx="1"/>
          </p:nvPr>
        </p:nvSpPr>
        <p:spPr>
          <a:xfrm>
            <a:off x="457200" y="1604520"/>
            <a:ext cx="8046360" cy="397692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2"/>
        <p:cNvGrpSpPr/>
        <p:nvPr/>
      </p:nvGrpSpPr>
      <p:grpSpPr>
        <a:xfrm>
          <a:off x="0" y="0"/>
          <a:ext cx="0" cy="0"/>
          <a:chOff x="0" y="0"/>
          <a:chExt cx="0" cy="0"/>
        </a:xfrm>
      </p:grpSpPr>
      <p:sp>
        <p:nvSpPr>
          <p:cNvPr id="13" name="Google Shape;13;p4"/>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4"/>
          <p:cNvSpPr txBox="1">
            <a:spLocks noGrp="1"/>
          </p:cNvSpPr>
          <p:nvPr>
            <p:ph type="subTitle" idx="1"/>
          </p:nvPr>
        </p:nvSpPr>
        <p:spPr>
          <a:xfrm>
            <a:off x="457200" y="1604520"/>
            <a:ext cx="8046360" cy="39772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457200" y="1604520"/>
            <a:ext cx="3926160" cy="397692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18" name="Google Shape;18;p5"/>
          <p:cNvSpPr txBox="1">
            <a:spLocks noGrp="1"/>
          </p:cNvSpPr>
          <p:nvPr>
            <p:ph type="body" idx="2"/>
          </p:nvPr>
        </p:nvSpPr>
        <p:spPr>
          <a:xfrm>
            <a:off x="4579920" y="1604520"/>
            <a:ext cx="3926160" cy="397692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
        <p:cNvGrpSpPr/>
        <p:nvPr/>
      </p:nvGrpSpPr>
      <p:grpSpPr>
        <a:xfrm>
          <a:off x="0" y="0"/>
          <a:ext cx="0" cy="0"/>
          <a:chOff x="0" y="0"/>
          <a:chExt cx="0" cy="0"/>
        </a:xfrm>
      </p:grpSpPr>
      <p:sp>
        <p:nvSpPr>
          <p:cNvPr id="20" name="Google Shape;20;p6"/>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1"/>
        <p:cNvGrpSpPr/>
        <p:nvPr/>
      </p:nvGrpSpPr>
      <p:grpSpPr>
        <a:xfrm>
          <a:off x="0" y="0"/>
          <a:ext cx="0" cy="0"/>
          <a:chOff x="0" y="0"/>
          <a:chExt cx="0" cy="0"/>
        </a:xfrm>
      </p:grpSpPr>
      <p:sp>
        <p:nvSpPr>
          <p:cNvPr id="22" name="Google Shape;22;p7"/>
          <p:cNvSpPr txBox="1">
            <a:spLocks noGrp="1"/>
          </p:cNvSpPr>
          <p:nvPr>
            <p:ph type="subTitle" idx="1"/>
          </p:nvPr>
        </p:nvSpPr>
        <p:spPr>
          <a:xfrm>
            <a:off x="685800" y="2130480"/>
            <a:ext cx="7771680" cy="345096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3"/>
        <p:cNvGrpSpPr/>
        <p:nvPr/>
      </p:nvGrpSpPr>
      <p:grpSpPr>
        <a:xfrm>
          <a:off x="0" y="0"/>
          <a:ext cx="0" cy="0"/>
          <a:chOff x="0" y="0"/>
          <a:chExt cx="0" cy="0"/>
        </a:xfrm>
      </p:grpSpPr>
      <p:sp>
        <p:nvSpPr>
          <p:cNvPr id="24" name="Google Shape;24;p8"/>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8"/>
          <p:cNvSpPr txBox="1">
            <a:spLocks noGrp="1"/>
          </p:cNvSpPr>
          <p:nvPr>
            <p:ph type="body" idx="1"/>
          </p:nvPr>
        </p:nvSpPr>
        <p:spPr>
          <a:xfrm>
            <a:off x="457200" y="160452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6" name="Google Shape;26;p8"/>
          <p:cNvSpPr txBox="1">
            <a:spLocks noGrp="1"/>
          </p:cNvSpPr>
          <p:nvPr>
            <p:ph type="body" idx="2"/>
          </p:nvPr>
        </p:nvSpPr>
        <p:spPr>
          <a:xfrm>
            <a:off x="457200" y="368136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27" name="Google Shape;27;p8"/>
          <p:cNvSpPr txBox="1">
            <a:spLocks noGrp="1"/>
          </p:cNvSpPr>
          <p:nvPr>
            <p:ph type="body" idx="3"/>
          </p:nvPr>
        </p:nvSpPr>
        <p:spPr>
          <a:xfrm>
            <a:off x="4579920" y="1604520"/>
            <a:ext cx="3926160" cy="397692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8"/>
        <p:cNvGrpSpPr/>
        <p:nvPr/>
      </p:nvGrpSpPr>
      <p:grpSpPr>
        <a:xfrm>
          <a:off x="0" y="0"/>
          <a:ext cx="0" cy="0"/>
          <a:chOff x="0" y="0"/>
          <a:chExt cx="0" cy="0"/>
        </a:xfrm>
      </p:grpSpPr>
      <p:sp>
        <p:nvSpPr>
          <p:cNvPr id="29" name="Google Shape;29;p9"/>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9"/>
          <p:cNvSpPr txBox="1">
            <a:spLocks noGrp="1"/>
          </p:cNvSpPr>
          <p:nvPr>
            <p:ph type="body" idx="1"/>
          </p:nvPr>
        </p:nvSpPr>
        <p:spPr>
          <a:xfrm>
            <a:off x="457200" y="1604520"/>
            <a:ext cx="3926160" cy="397692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1" name="Google Shape;31;p9"/>
          <p:cNvSpPr txBox="1">
            <a:spLocks noGrp="1"/>
          </p:cNvSpPr>
          <p:nvPr>
            <p:ph type="body" idx="2"/>
          </p:nvPr>
        </p:nvSpPr>
        <p:spPr>
          <a:xfrm>
            <a:off x="4579920" y="160452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2" name="Google Shape;32;p9"/>
          <p:cNvSpPr txBox="1">
            <a:spLocks noGrp="1"/>
          </p:cNvSpPr>
          <p:nvPr>
            <p:ph type="body" idx="3"/>
          </p:nvPr>
        </p:nvSpPr>
        <p:spPr>
          <a:xfrm>
            <a:off x="4579920" y="368136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452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6" name="Google Shape;36;p10"/>
          <p:cNvSpPr txBox="1">
            <a:spLocks noGrp="1"/>
          </p:cNvSpPr>
          <p:nvPr>
            <p:ph type="body" idx="2"/>
          </p:nvPr>
        </p:nvSpPr>
        <p:spPr>
          <a:xfrm>
            <a:off x="4579920" y="160452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37" name="Google Shape;37;p10"/>
          <p:cNvSpPr txBox="1">
            <a:spLocks noGrp="1"/>
          </p:cNvSpPr>
          <p:nvPr>
            <p:ph type="body" idx="3"/>
          </p:nvPr>
        </p:nvSpPr>
        <p:spPr>
          <a:xfrm>
            <a:off x="457200" y="3681360"/>
            <a:ext cx="804564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38"/>
        <p:cNvGrpSpPr/>
        <p:nvPr/>
      </p:nvGrpSpPr>
      <p:grpSpPr>
        <a:xfrm>
          <a:off x="0" y="0"/>
          <a:ext cx="0" cy="0"/>
          <a:chOff x="0" y="0"/>
          <a:chExt cx="0" cy="0"/>
        </a:xfrm>
      </p:grpSpPr>
      <p:sp>
        <p:nvSpPr>
          <p:cNvPr id="39" name="Google Shape;39;p11"/>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1"/>
          <p:cNvSpPr txBox="1">
            <a:spLocks noGrp="1"/>
          </p:cNvSpPr>
          <p:nvPr>
            <p:ph type="body" idx="1"/>
          </p:nvPr>
        </p:nvSpPr>
        <p:spPr>
          <a:xfrm>
            <a:off x="457200" y="1604520"/>
            <a:ext cx="80463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1" name="Google Shape;41;p11"/>
          <p:cNvSpPr txBox="1">
            <a:spLocks noGrp="1"/>
          </p:cNvSpPr>
          <p:nvPr>
            <p:ph type="body" idx="2"/>
          </p:nvPr>
        </p:nvSpPr>
        <p:spPr>
          <a:xfrm>
            <a:off x="457200" y="3681360"/>
            <a:ext cx="80463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2"/>
        <p:cNvGrpSpPr/>
        <p:nvPr/>
      </p:nvGrpSpPr>
      <p:grpSpPr>
        <a:xfrm>
          <a:off x="0" y="0"/>
          <a:ext cx="0" cy="0"/>
          <a:chOff x="0" y="0"/>
          <a:chExt cx="0" cy="0"/>
        </a:xfrm>
      </p:grpSpPr>
      <p:sp>
        <p:nvSpPr>
          <p:cNvPr id="43" name="Google Shape;43;p12"/>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2"/>
          <p:cNvSpPr txBox="1">
            <a:spLocks noGrp="1"/>
          </p:cNvSpPr>
          <p:nvPr>
            <p:ph type="body" idx="1"/>
          </p:nvPr>
        </p:nvSpPr>
        <p:spPr>
          <a:xfrm>
            <a:off x="457200" y="160452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5" name="Google Shape;45;p12"/>
          <p:cNvSpPr txBox="1">
            <a:spLocks noGrp="1"/>
          </p:cNvSpPr>
          <p:nvPr>
            <p:ph type="body" idx="2"/>
          </p:nvPr>
        </p:nvSpPr>
        <p:spPr>
          <a:xfrm>
            <a:off x="4579920" y="160452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6" name="Google Shape;46;p12"/>
          <p:cNvSpPr txBox="1">
            <a:spLocks noGrp="1"/>
          </p:cNvSpPr>
          <p:nvPr>
            <p:ph type="body" idx="3"/>
          </p:nvPr>
        </p:nvSpPr>
        <p:spPr>
          <a:xfrm>
            <a:off x="4579920" y="368136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47" name="Google Shape;47;p12"/>
          <p:cNvSpPr txBox="1">
            <a:spLocks noGrp="1"/>
          </p:cNvSpPr>
          <p:nvPr>
            <p:ph type="body" idx="4"/>
          </p:nvPr>
        </p:nvSpPr>
        <p:spPr>
          <a:xfrm>
            <a:off x="457200" y="368136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48"/>
        <p:cNvGrpSpPr/>
        <p:nvPr/>
      </p:nvGrpSpPr>
      <p:grpSpPr>
        <a:xfrm>
          <a:off x="0" y="0"/>
          <a:ext cx="0" cy="0"/>
          <a:chOff x="0" y="0"/>
          <a:chExt cx="0" cy="0"/>
        </a:xfrm>
      </p:grpSpPr>
      <p:sp>
        <p:nvSpPr>
          <p:cNvPr id="49" name="Google Shape;49;p13"/>
          <p:cNvSpPr txBox="1">
            <a:spLocks noGrp="1"/>
          </p:cNvSpPr>
          <p:nvPr>
            <p:ph type="title"/>
          </p:nvPr>
        </p:nvSpPr>
        <p:spPr>
          <a:xfrm>
            <a:off x="685800" y="2130480"/>
            <a:ext cx="7771680" cy="146988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3"/>
          <p:cNvSpPr txBox="1">
            <a:spLocks noGrp="1"/>
          </p:cNvSpPr>
          <p:nvPr>
            <p:ph type="body" idx="1"/>
          </p:nvPr>
        </p:nvSpPr>
        <p:spPr>
          <a:xfrm>
            <a:off x="457200" y="160452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
        <p:nvSpPr>
          <p:cNvPr id="51" name="Google Shape;51;p13"/>
          <p:cNvSpPr txBox="1">
            <a:spLocks noGrp="1"/>
          </p:cNvSpPr>
          <p:nvPr>
            <p:ph type="body" idx="2"/>
          </p:nvPr>
        </p:nvSpPr>
        <p:spPr>
          <a:xfrm>
            <a:off x="4579920" y="1604520"/>
            <a:ext cx="3926160" cy="189648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a:lvl1pPr>
            <a:lvl2pPr marL="914400" lvl="1" indent="-228600">
              <a:spcBef>
                <a:spcPts val="0"/>
              </a:spcBef>
              <a:spcAft>
                <a:spcPts val="0"/>
              </a:spcAft>
              <a:buSzPts val="1400"/>
              <a:buNone/>
              <a:defRPr/>
            </a:lvl2pPr>
            <a:lvl3pPr marL="1371600" lvl="2" indent="-228600">
              <a:spcBef>
                <a:spcPts val="0"/>
              </a:spcBef>
              <a:spcAft>
                <a:spcPts val="0"/>
              </a:spcAft>
              <a:buSzPts val="1400"/>
              <a:buNone/>
              <a:defRPr/>
            </a:lvl3pPr>
            <a:lvl4pPr marL="1828800" lvl="3" indent="-228600">
              <a:spcBef>
                <a:spcPts val="0"/>
              </a:spcBef>
              <a:spcAft>
                <a:spcPts val="0"/>
              </a:spcAft>
              <a:buSzPts val="1400"/>
              <a:buNone/>
              <a:defRPr/>
            </a:lvl4pPr>
            <a:lvl5pPr marL="2286000" lvl="4" indent="-228600">
              <a:spcBef>
                <a:spcPts val="0"/>
              </a:spcBef>
              <a:spcAft>
                <a:spcPts val="0"/>
              </a:spcAft>
              <a:buSzPts val="1400"/>
              <a:buNone/>
              <a:defRPr/>
            </a:lvl5pPr>
            <a:lvl6pPr marL="2743200" lvl="5" indent="-228600">
              <a:spcBef>
                <a:spcPts val="0"/>
              </a:spcBef>
              <a:spcAft>
                <a:spcPts val="0"/>
              </a:spcAft>
              <a:buSzPts val="1400"/>
              <a:buNone/>
              <a:defRPr/>
            </a:lvl6pPr>
            <a:lvl7pPr marL="3200400" lvl="6" indent="-228600">
              <a:spcBef>
                <a:spcPts val="0"/>
              </a:spcBef>
              <a:spcAft>
                <a:spcPts val="0"/>
              </a:spcAft>
              <a:buSzPts val="1400"/>
              <a:buNone/>
              <a:defRPr/>
            </a:lvl7pPr>
            <a:lvl8pPr marL="3657600" lvl="7" indent="-228600">
              <a:spcBef>
                <a:spcPts val="0"/>
              </a:spcBef>
              <a:spcAft>
                <a:spcPts val="0"/>
              </a:spcAft>
              <a:buSzPts val="1400"/>
              <a:buNone/>
              <a:defRPr/>
            </a:lvl8pPr>
            <a:lvl9pPr marL="4114800" lvl="8" indent="-22860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85800" y="2130480"/>
            <a:ext cx="7771680" cy="1469520"/>
          </a:xfrm>
          <a:prstGeom prst="rect">
            <a:avLst/>
          </a:prstGeom>
          <a:noFill/>
          <a:ln>
            <a:noFill/>
          </a:ln>
        </p:spPr>
        <p:txBody>
          <a:bodyPr spcFirstLastPara="1" wrap="square" lIns="0" tIns="0" rIns="0" bIns="0" anchor="ctr" anchorCtr="0">
            <a:noAutofit/>
          </a:bodyPr>
          <a:lstStyle>
            <a:lvl1pPr lvl="0">
              <a:spcBef>
                <a:spcPts val="0"/>
              </a:spcBef>
              <a:spcAft>
                <a:spcPts val="0"/>
              </a:spcAft>
              <a:buSzPts val="1400"/>
              <a:buNone/>
              <a:defRPr sz="18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4520"/>
            <a:ext cx="8046360" cy="3976920"/>
          </a:xfrm>
          <a:prstGeom prst="rect">
            <a:avLst/>
          </a:prstGeom>
          <a:noFill/>
          <a:ln>
            <a:noFill/>
          </a:ln>
        </p:spPr>
        <p:txBody>
          <a:bodyPr spcFirstLastPara="1" wrap="square" lIns="0" tIns="0" rIns="0" bIns="0" anchor="t" anchorCtr="0">
            <a:noAutofit/>
          </a:bodyPr>
          <a:lstStyle>
            <a:lvl1pPr marL="457200" lvl="0" indent="-228600">
              <a:spcBef>
                <a:spcPts val="0"/>
              </a:spcBef>
              <a:spcAft>
                <a:spcPts val="0"/>
              </a:spcAft>
              <a:buSzPts val="1400"/>
              <a:buNone/>
              <a:defRPr sz="1800"/>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hyperlink" Target="http://www.w3schools.com/" TargetMode="External"/><Relationship Id="rId13" Type="http://schemas.openxmlformats.org/officeDocument/2006/relationships/hyperlink" Target="http://www.apache.org/" TargetMode="External"/><Relationship Id="rId3" Type="http://schemas.openxmlformats.org/officeDocument/2006/relationships/hyperlink" Target="http://www.eci.gov.in/" TargetMode="External"/><Relationship Id="rId7" Type="http://schemas.openxmlformats.org/officeDocument/2006/relationships/hyperlink" Target="http://www.apeci.com/" TargetMode="External"/><Relationship Id="rId12" Type="http://schemas.openxmlformats.org/officeDocument/2006/relationships/hyperlink" Target="http://www.xamppserver.com/"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www.askjeeves.com/" TargetMode="External"/><Relationship Id="rId11" Type="http://schemas.openxmlformats.org/officeDocument/2006/relationships/hyperlink" Target="http://www.jsp.net/" TargetMode="External"/><Relationship Id="rId5" Type="http://schemas.openxmlformats.org/officeDocument/2006/relationships/hyperlink" Target="http://www.tutorialpoints.com/java/" TargetMode="External"/><Relationship Id="rId10" Type="http://schemas.openxmlformats.org/officeDocument/2006/relationships/hyperlink" Target="http://www.jdbc-tutuorials.com/" TargetMode="External"/><Relationship Id="rId4" Type="http://schemas.openxmlformats.org/officeDocument/2006/relationships/hyperlink" Target="http://www.goggle.com/" TargetMode="External"/><Relationship Id="rId9" Type="http://schemas.openxmlformats.org/officeDocument/2006/relationships/hyperlink" Target="http://www.wikipedia.com/" TargetMode="External"/><Relationship Id="rId14" Type="http://schemas.openxmlformats.org/officeDocument/2006/relationships/hyperlink" Target="http://www.tutorialpoints.com/mysql"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4"/>
          <p:cNvSpPr txBox="1"/>
          <p:nvPr/>
        </p:nvSpPr>
        <p:spPr>
          <a:xfrm>
            <a:off x="460375" y="2078438"/>
            <a:ext cx="8763000"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chemeClr val="dk1"/>
                </a:solidFill>
                <a:latin typeface="Calibri"/>
                <a:ea typeface="Calibri"/>
                <a:cs typeface="Calibri"/>
                <a:sym typeface="Calibri"/>
              </a:rPr>
              <a:t>Campus Selection System</a:t>
            </a:r>
            <a:endParaRPr sz="2800" b="1" i="0" u="none" strike="noStrike" cap="none">
              <a:solidFill>
                <a:schemeClr val="dk1"/>
              </a:solidFill>
              <a:latin typeface="Calibri"/>
              <a:ea typeface="Calibri"/>
              <a:cs typeface="Calibri"/>
              <a:sym typeface="Calibri"/>
            </a:endParaRPr>
          </a:p>
        </p:txBody>
      </p:sp>
      <p:sp>
        <p:nvSpPr>
          <p:cNvPr id="57" name="Google Shape;57;p14"/>
          <p:cNvSpPr txBox="1"/>
          <p:nvPr/>
        </p:nvSpPr>
        <p:spPr>
          <a:xfrm>
            <a:off x="5662050" y="3544100"/>
            <a:ext cx="53868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7365D"/>
                </a:solidFill>
                <a:latin typeface="Arial"/>
                <a:ea typeface="Arial"/>
                <a:cs typeface="Arial"/>
                <a:sym typeface="Arial"/>
              </a:rPr>
              <a:t>Name of the student</a:t>
            </a:r>
            <a:endParaRPr/>
          </a:p>
        </p:txBody>
      </p:sp>
      <p:sp>
        <p:nvSpPr>
          <p:cNvPr id="58" name="Google Shape;58;p14"/>
          <p:cNvSpPr txBox="1"/>
          <p:nvPr/>
        </p:nvSpPr>
        <p:spPr>
          <a:xfrm>
            <a:off x="241935" y="5000519"/>
            <a:ext cx="5181600" cy="1046440"/>
          </a:xfrm>
          <a:prstGeom prst="rect">
            <a:avLst/>
          </a:prstGeom>
          <a:noFill/>
          <a:ln>
            <a:noFill/>
          </a:ln>
        </p:spPr>
        <p:txBody>
          <a:bodyPr spcFirstLastPara="1" wrap="square" lIns="91425" tIns="45700" rIns="91425" bIns="45700" anchor="t" anchorCtr="0">
            <a:spAutoFit/>
          </a:bodyPr>
          <a:lstStyle/>
          <a:p>
            <a:pPr marL="0" marR="64008" lvl="0" indent="0" algn="l" rtl="0">
              <a:lnSpc>
                <a:spcPct val="150000"/>
              </a:lnSpc>
              <a:spcBef>
                <a:spcPts val="0"/>
              </a:spcBef>
              <a:spcAft>
                <a:spcPts val="0"/>
              </a:spcAft>
              <a:buNone/>
            </a:pPr>
            <a:r>
              <a:rPr lang="en-US" sz="2800" b="1">
                <a:solidFill>
                  <a:srgbClr val="C00000"/>
                </a:solidFill>
                <a:latin typeface="Arial"/>
                <a:ea typeface="Arial"/>
                <a:cs typeface="Arial"/>
                <a:sym typeface="Arial"/>
              </a:rPr>
              <a:t>Under esteemed guidance of</a:t>
            </a:r>
            <a:endParaRPr/>
          </a:p>
          <a:p>
            <a:pPr marL="0" marR="0" lvl="0" indent="0" algn="l" rtl="0">
              <a:spcBef>
                <a:spcPts val="0"/>
              </a:spcBef>
              <a:spcAft>
                <a:spcPts val="0"/>
              </a:spcAft>
              <a:buNone/>
            </a:pPr>
            <a:r>
              <a:rPr lang="en-US" sz="2000" b="1">
                <a:solidFill>
                  <a:schemeClr val="dk1"/>
                </a:solidFill>
                <a:latin typeface="Arial"/>
                <a:ea typeface="Arial"/>
                <a:cs typeface="Arial"/>
                <a:sym typeface="Arial"/>
              </a:rPr>
              <a:t>Ms.B.Anuradha (Assistant Professor)</a:t>
            </a:r>
            <a:endParaRPr sz="1800" b="1">
              <a:solidFill>
                <a:schemeClr val="dk1"/>
              </a:solidFill>
              <a:latin typeface="Arial"/>
              <a:ea typeface="Arial"/>
              <a:cs typeface="Arial"/>
              <a:sym typeface="Arial"/>
            </a:endParaRPr>
          </a:p>
        </p:txBody>
      </p:sp>
      <p:graphicFrame>
        <p:nvGraphicFramePr>
          <p:cNvPr id="59" name="Google Shape;59;p14"/>
          <p:cNvGraphicFramePr/>
          <p:nvPr/>
        </p:nvGraphicFramePr>
        <p:xfrm>
          <a:off x="1524000" y="228600"/>
          <a:ext cx="6096000" cy="1255950"/>
        </p:xfrm>
        <a:graphic>
          <a:graphicData uri="http://schemas.openxmlformats.org/drawingml/2006/table">
            <a:tbl>
              <a:tblPr>
                <a:noFill/>
                <a:tableStyleId>{8A8EC1FA-0574-4290-BDFC-C8C61E09E3AC}</a:tableStyleId>
              </a:tblPr>
              <a:tblGrid>
                <a:gridCol w="6096000">
                  <a:extLst>
                    <a:ext uri="{9D8B030D-6E8A-4147-A177-3AD203B41FA5}">
                      <a16:colId xmlns:a16="http://schemas.microsoft.com/office/drawing/2014/main" val="20000"/>
                    </a:ext>
                  </a:extLst>
                </a:gridCol>
              </a:tblGrid>
              <a:tr h="80950">
                <a:tc>
                  <a:txBody>
                    <a:bodyPr/>
                    <a:lstStyle/>
                    <a:p>
                      <a:pPr marL="0" lvl="0" indent="0" algn="ctr" rtl="0">
                        <a:spcBef>
                          <a:spcPts val="0"/>
                        </a:spcBef>
                        <a:spcAft>
                          <a:spcPts val="0"/>
                        </a:spcAft>
                        <a:buNone/>
                      </a:pPr>
                      <a:r>
                        <a:rPr lang="en-US" sz="2000">
                          <a:solidFill>
                            <a:srgbClr val="002060"/>
                          </a:solidFill>
                        </a:rPr>
                        <a:t>CMR COLLEGE OF ENGINEERING &amp; TECHNOLOGY</a:t>
                      </a:r>
                      <a:endParaRPr sz="2000" b="1">
                        <a:solidFill>
                          <a:srgbClr val="002060"/>
                        </a:solidFill>
                        <a:latin typeface="Calibri"/>
                        <a:ea typeface="Calibri"/>
                        <a:cs typeface="Calibri"/>
                        <a:sym typeface="Calibri"/>
                      </a:endParaRPr>
                    </a:p>
                  </a:txBody>
                  <a:tcPr marL="9200" marR="9200" marT="6125" marB="6125" anchor="b"/>
                </a:tc>
                <a:extLst>
                  <a:ext uri="{0D108BD9-81ED-4DB2-BD59-A6C34878D82A}">
                    <a16:rowId xmlns:a16="http://schemas.microsoft.com/office/drawing/2014/main" val="10000"/>
                  </a:ext>
                </a:extLst>
              </a:tr>
              <a:tr h="80950">
                <a:tc>
                  <a:txBody>
                    <a:bodyPr/>
                    <a:lstStyle/>
                    <a:p>
                      <a:pPr marL="0" lvl="0" indent="0" algn="ctr" rtl="0">
                        <a:spcBef>
                          <a:spcPts val="0"/>
                        </a:spcBef>
                        <a:spcAft>
                          <a:spcPts val="0"/>
                        </a:spcAft>
                        <a:buNone/>
                      </a:pPr>
                      <a:r>
                        <a:rPr lang="en-US" sz="2000">
                          <a:solidFill>
                            <a:srgbClr val="002060"/>
                          </a:solidFill>
                        </a:rPr>
                        <a:t>Kandlakoya, Medchal, Hyderabad - 501401</a:t>
                      </a:r>
                      <a:endParaRPr sz="2000" b="1">
                        <a:solidFill>
                          <a:srgbClr val="002060"/>
                        </a:solidFill>
                        <a:latin typeface="Times New Roman"/>
                        <a:ea typeface="Times New Roman"/>
                        <a:cs typeface="Times New Roman"/>
                        <a:sym typeface="Times New Roman"/>
                      </a:endParaRPr>
                    </a:p>
                  </a:txBody>
                  <a:tcPr marL="9200" marR="9200" marT="6125" marB="6125" anchor="b"/>
                </a:tc>
                <a:extLst>
                  <a:ext uri="{0D108BD9-81ED-4DB2-BD59-A6C34878D82A}">
                    <a16:rowId xmlns:a16="http://schemas.microsoft.com/office/drawing/2014/main" val="10001"/>
                  </a:ext>
                </a:extLst>
              </a:tr>
              <a:tr h="80950">
                <a:tc>
                  <a:txBody>
                    <a:bodyPr/>
                    <a:lstStyle/>
                    <a:p>
                      <a:pPr marL="0" lvl="0" indent="0" algn="ctr" rtl="0">
                        <a:spcBef>
                          <a:spcPts val="0"/>
                        </a:spcBef>
                        <a:spcAft>
                          <a:spcPts val="0"/>
                        </a:spcAft>
                        <a:buNone/>
                      </a:pPr>
                      <a:r>
                        <a:rPr lang="en-US" sz="2000">
                          <a:solidFill>
                            <a:srgbClr val="002060"/>
                          </a:solidFill>
                        </a:rPr>
                        <a:t>Department of Computer Science and Engineering</a:t>
                      </a:r>
                      <a:endParaRPr sz="2000" b="1">
                        <a:solidFill>
                          <a:srgbClr val="002060"/>
                        </a:solidFill>
                        <a:latin typeface="Times New Roman"/>
                        <a:ea typeface="Times New Roman"/>
                        <a:cs typeface="Times New Roman"/>
                        <a:sym typeface="Times New Roman"/>
                      </a:endParaRPr>
                    </a:p>
                  </a:txBody>
                  <a:tcPr marL="9200" marR="9200" marT="6125" marB="6125" anchor="b"/>
                </a:tc>
                <a:extLst>
                  <a:ext uri="{0D108BD9-81ED-4DB2-BD59-A6C34878D82A}">
                    <a16:rowId xmlns:a16="http://schemas.microsoft.com/office/drawing/2014/main" val="10002"/>
                  </a:ext>
                </a:extLst>
              </a:tr>
            </a:tbl>
          </a:graphicData>
        </a:graphic>
      </p:graphicFrame>
      <p:sp>
        <p:nvSpPr>
          <p:cNvPr id="60" name="Google Shape;60;p14"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61" name="Google Shape;61;p14" descr="CMR College of Pharmacy updated... - CMR College of Pharmacy"/>
          <p:cNvPicPr preferRelativeResize="0"/>
          <p:nvPr/>
        </p:nvPicPr>
        <p:blipFill rotWithShape="1">
          <a:blip r:embed="rId3">
            <a:alphaModFix/>
          </a:blip>
          <a:srcRect/>
          <a:stretch/>
        </p:blipFill>
        <p:spPr>
          <a:xfrm>
            <a:off x="381000" y="228600"/>
            <a:ext cx="1295400" cy="1143000"/>
          </a:xfrm>
          <a:prstGeom prst="rect">
            <a:avLst/>
          </a:prstGeom>
          <a:noFill/>
          <a:ln>
            <a:noFill/>
          </a:ln>
        </p:spPr>
      </p:pic>
      <p:sp>
        <p:nvSpPr>
          <p:cNvPr id="62" name="Google Shape;62;p14" descr="CMRCET HYDERABAD - 2021 Admission Process, Ranking, Reviews, Affiliations"/>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 name="Google Shape;63;p14"/>
          <p:cNvSpPr txBox="1">
            <a:spLocks noGrp="1"/>
          </p:cNvSpPr>
          <p:nvPr>
            <p:ph type="body" idx="1"/>
          </p:nvPr>
        </p:nvSpPr>
        <p:spPr>
          <a:xfrm>
            <a:off x="5791200" y="4107150"/>
            <a:ext cx="3124200" cy="893400"/>
          </a:xfrm>
          <a:prstGeom prst="rect">
            <a:avLst/>
          </a:prstGeom>
          <a:noFill/>
          <a:ln>
            <a:noFill/>
          </a:ln>
        </p:spPr>
        <p:txBody>
          <a:bodyPr spcFirstLastPara="1" wrap="square" lIns="0" tIns="0" rIns="0" bIns="0" anchor="ctr" anchorCtr="0">
            <a:noAutofit/>
          </a:bodyPr>
          <a:lstStyle/>
          <a:p>
            <a:pPr marL="0" marR="753745" lvl="0" indent="0" algn="just" rtl="0">
              <a:spcBef>
                <a:spcPts val="0"/>
              </a:spcBef>
              <a:spcAft>
                <a:spcPts val="0"/>
              </a:spcAft>
              <a:buNone/>
            </a:pPr>
            <a:r>
              <a:rPr lang="en-US" sz="1600" b="1">
                <a:latin typeface="Times New Roman"/>
                <a:ea typeface="Times New Roman"/>
                <a:cs typeface="Times New Roman"/>
                <a:sym typeface="Times New Roman"/>
              </a:rPr>
              <a:t>     D.Shivanjali(21H55A0503)</a:t>
            </a:r>
            <a:endParaRPr sz="1600">
              <a:latin typeface="Times New Roman"/>
              <a:ea typeface="Times New Roman"/>
              <a:cs typeface="Times New Roman"/>
              <a:sym typeface="Times New Roman"/>
            </a:endParaRPr>
          </a:p>
          <a:p>
            <a:pPr marL="0" marR="753745" lvl="7" indent="0" algn="just" rtl="0">
              <a:spcBef>
                <a:spcPts val="455"/>
              </a:spcBef>
              <a:spcAft>
                <a:spcPts val="0"/>
              </a:spcAft>
              <a:buNone/>
            </a:pPr>
            <a:r>
              <a:rPr lang="en-US" sz="1600" b="1">
                <a:latin typeface="Times New Roman"/>
                <a:ea typeface="Times New Roman"/>
                <a:cs typeface="Times New Roman"/>
                <a:sym typeface="Times New Roman"/>
              </a:rPr>
              <a:t>M. Nithesh(21H55A0512)</a:t>
            </a:r>
            <a:endParaRPr sz="1600">
              <a:latin typeface="Times New Roman"/>
              <a:ea typeface="Times New Roman"/>
              <a:cs typeface="Times New Roman"/>
              <a:sym typeface="Times New Roman"/>
            </a:endParaRPr>
          </a:p>
          <a:p>
            <a:pPr marL="0" marR="753745" lvl="7" indent="0" algn="just" rtl="0">
              <a:spcBef>
                <a:spcPts val="455"/>
              </a:spcBef>
              <a:spcAft>
                <a:spcPts val="0"/>
              </a:spcAft>
              <a:buNone/>
            </a:pPr>
            <a:r>
              <a:rPr lang="en-US" sz="1600" b="1">
                <a:latin typeface="Times New Roman"/>
                <a:ea typeface="Times New Roman"/>
                <a:cs typeface="Times New Roman"/>
                <a:sym typeface="Times New Roman"/>
              </a:rPr>
              <a:t> P.Swetha(21H55A0517)</a:t>
            </a:r>
            <a:endParaRPr sz="1600"/>
          </a:p>
        </p:txBody>
      </p:sp>
      <p:sp>
        <p:nvSpPr>
          <p:cNvPr id="64" name="Google Shape;64;p14"/>
          <p:cNvSpPr txBox="1"/>
          <p:nvPr/>
        </p:nvSpPr>
        <p:spPr>
          <a:xfrm>
            <a:off x="6934200" y="6231625"/>
            <a:ext cx="2133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Batch No- 75</a:t>
            </a:r>
            <a:endParaRPr sz="1800" b="1">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p:nvPr/>
        </p:nvSpPr>
        <p:spPr>
          <a:xfrm>
            <a:off x="457200" y="1066680"/>
            <a:ext cx="838116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15"/>
          <p:cNvSpPr/>
          <p:nvPr/>
        </p:nvSpPr>
        <p:spPr>
          <a:xfrm>
            <a:off x="457200" y="457200"/>
            <a:ext cx="8381160" cy="5774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3200" b="1">
                <a:solidFill>
                  <a:srgbClr val="C00000"/>
                </a:solidFill>
                <a:latin typeface="Calibri"/>
                <a:ea typeface="Calibri"/>
                <a:cs typeface="Calibri"/>
                <a:sym typeface="Calibri"/>
              </a:rPr>
              <a:t>Outline</a:t>
            </a:r>
            <a:endParaRPr sz="1800">
              <a:solidFill>
                <a:srgbClr val="C00000"/>
              </a:solidFill>
              <a:latin typeface="Arial"/>
              <a:ea typeface="Arial"/>
              <a:cs typeface="Arial"/>
              <a:sym typeface="Arial"/>
            </a:endParaRPr>
          </a:p>
        </p:txBody>
      </p:sp>
      <p:sp>
        <p:nvSpPr>
          <p:cNvPr id="72" name="Google Shape;72;p15"/>
          <p:cNvSpPr/>
          <p:nvPr/>
        </p:nvSpPr>
        <p:spPr>
          <a:xfrm>
            <a:off x="381000" y="1219200"/>
            <a:ext cx="8458200" cy="5867400"/>
          </a:xfrm>
          <a:prstGeom prst="rect">
            <a:avLst/>
          </a:prstGeom>
          <a:noFill/>
          <a:ln>
            <a:noFill/>
          </a:ln>
        </p:spPr>
        <p:txBody>
          <a:bodyPr spcFirstLastPara="1" wrap="square" lIns="90000" tIns="45000" rIns="90000" bIns="45000" anchor="t" anchorCtr="0">
            <a:noAutofit/>
          </a:bodyPr>
          <a:lstStyle/>
          <a:p>
            <a:pPr marL="0" marR="0" lvl="0" indent="-127000" algn="l" rtl="0">
              <a:spcBef>
                <a:spcPts val="0"/>
              </a:spcBef>
              <a:spcAft>
                <a:spcPts val="0"/>
              </a:spcAft>
              <a:buClr>
                <a:srgbClr val="000000"/>
              </a:buClr>
              <a:buSzPts val="2000"/>
              <a:buFont typeface="Arial"/>
              <a:buChar char="•"/>
            </a:pPr>
            <a:r>
              <a:rPr lang="en-US" sz="2000" b="1" dirty="0">
                <a:solidFill>
                  <a:srgbClr val="000000"/>
                </a:solidFill>
                <a:latin typeface="Bookman Old Style"/>
                <a:ea typeface="Bookman Old Style"/>
                <a:cs typeface="Bookman Old Style"/>
                <a:sym typeface="Bookman Old Style"/>
              </a:rPr>
              <a:t> Abstract </a:t>
            </a:r>
            <a:endParaRPr dirty="0"/>
          </a:p>
          <a:p>
            <a:pPr marL="0" marR="0" lvl="0" indent="-127000" algn="l" rtl="0">
              <a:spcBef>
                <a:spcPts val="0"/>
              </a:spcBef>
              <a:spcAft>
                <a:spcPts val="0"/>
              </a:spcAft>
              <a:buClr>
                <a:srgbClr val="000000"/>
              </a:buClr>
              <a:buSzPts val="2000"/>
              <a:buFont typeface="Arial"/>
              <a:buChar char="•"/>
            </a:pPr>
            <a:r>
              <a:rPr lang="en-US" sz="2000" b="1" dirty="0">
                <a:solidFill>
                  <a:srgbClr val="000000"/>
                </a:solidFill>
                <a:latin typeface="Bookman Old Style"/>
                <a:ea typeface="Bookman Old Style"/>
                <a:cs typeface="Bookman Old Style"/>
                <a:sym typeface="Bookman Old Style"/>
              </a:rPr>
              <a:t> Introduction </a:t>
            </a:r>
            <a:endParaRPr dirty="0"/>
          </a:p>
          <a:p>
            <a:pPr marL="0" marR="0" lvl="0" indent="-127000" algn="l" rtl="0">
              <a:spcBef>
                <a:spcPts val="0"/>
              </a:spcBef>
              <a:spcAft>
                <a:spcPts val="0"/>
              </a:spcAft>
              <a:buClr>
                <a:srgbClr val="000000"/>
              </a:buClr>
              <a:buSzPts val="2000"/>
              <a:buFont typeface="Arial"/>
              <a:buChar char="•"/>
            </a:pPr>
            <a:r>
              <a:rPr lang="en-US" sz="2000" b="1" dirty="0">
                <a:solidFill>
                  <a:srgbClr val="000000"/>
                </a:solidFill>
                <a:latin typeface="Bookman Old Style"/>
                <a:ea typeface="Bookman Old Style"/>
                <a:cs typeface="Bookman Old Style"/>
                <a:sym typeface="Bookman Old Style"/>
              </a:rPr>
              <a:t> Research Objective</a:t>
            </a:r>
            <a:endParaRPr dirty="0"/>
          </a:p>
          <a:p>
            <a:pPr marL="0" marR="0" lvl="0" indent="-127000" algn="l" rtl="0">
              <a:spcBef>
                <a:spcPts val="0"/>
              </a:spcBef>
              <a:spcAft>
                <a:spcPts val="0"/>
              </a:spcAft>
              <a:buClr>
                <a:srgbClr val="000000"/>
              </a:buClr>
              <a:buSzPts val="2000"/>
              <a:buFont typeface="Arial"/>
              <a:buChar char="•"/>
            </a:pPr>
            <a:r>
              <a:rPr lang="en-US" sz="2000" b="1" dirty="0">
                <a:solidFill>
                  <a:srgbClr val="000000"/>
                </a:solidFill>
                <a:latin typeface="Bookman Old Style"/>
                <a:ea typeface="Bookman Old Style"/>
                <a:cs typeface="Bookman Old Style"/>
                <a:sym typeface="Bookman Old Style"/>
              </a:rPr>
              <a:t> Problem Definition</a:t>
            </a:r>
            <a:endParaRPr dirty="0"/>
          </a:p>
          <a:p>
            <a:pPr marL="0" marR="0" lvl="0" indent="-127000" algn="l" rtl="0">
              <a:spcBef>
                <a:spcPts val="0"/>
              </a:spcBef>
              <a:spcAft>
                <a:spcPts val="0"/>
              </a:spcAft>
              <a:buClr>
                <a:srgbClr val="000000"/>
              </a:buClr>
              <a:buSzPts val="2000"/>
              <a:buFont typeface="Arial"/>
              <a:buChar char="•"/>
            </a:pPr>
            <a:r>
              <a:rPr lang="en-US" sz="2000" b="1" dirty="0">
                <a:solidFill>
                  <a:srgbClr val="000000"/>
                </a:solidFill>
                <a:latin typeface="Bookman Old Style"/>
                <a:ea typeface="Bookman Old Style"/>
                <a:cs typeface="Bookman Old Style"/>
                <a:sym typeface="Bookman Old Style"/>
              </a:rPr>
              <a:t> Project Scope and Limitations</a:t>
            </a:r>
          </a:p>
          <a:p>
            <a:pPr indent="-127000">
              <a:buSzPts val="2000"/>
              <a:buFont typeface="Arial"/>
              <a:buChar char="•"/>
            </a:pPr>
            <a:r>
              <a:rPr lang="en-IN" sz="2000" b="1" dirty="0">
                <a:solidFill>
                  <a:srgbClr val="000000"/>
                </a:solidFill>
                <a:latin typeface="Bookman Old Style"/>
                <a:ea typeface="Bookman Old Style"/>
                <a:cs typeface="Bookman Old Style"/>
                <a:sym typeface="Bookman Old Style"/>
              </a:rPr>
              <a:t> Literature Survey</a:t>
            </a:r>
          </a:p>
          <a:p>
            <a:pPr indent="-127000">
              <a:buSzPts val="2000"/>
              <a:buFont typeface="Arial"/>
              <a:buChar char="•"/>
            </a:pPr>
            <a:r>
              <a:rPr lang="en-IN" sz="2000" b="1" dirty="0">
                <a:latin typeface="Bookman Old Style"/>
                <a:sym typeface="Bookman Old Style"/>
              </a:rPr>
              <a:t> Implementation of Existing System</a:t>
            </a:r>
            <a:endParaRPr dirty="0"/>
          </a:p>
          <a:p>
            <a:pPr marL="0" marR="0" lvl="0" indent="-127000" algn="l" rtl="0">
              <a:spcBef>
                <a:spcPts val="0"/>
              </a:spcBef>
              <a:spcAft>
                <a:spcPts val="0"/>
              </a:spcAft>
              <a:buClr>
                <a:srgbClr val="000000"/>
              </a:buClr>
              <a:buSzPts val="2000"/>
              <a:buFont typeface="Arial"/>
              <a:buChar char="•"/>
            </a:pPr>
            <a:r>
              <a:rPr lang="en-US" sz="2000" b="1" dirty="0">
                <a:solidFill>
                  <a:srgbClr val="000000"/>
                </a:solidFill>
                <a:latin typeface="Bookman Old Style"/>
                <a:ea typeface="Bookman Old Style"/>
                <a:cs typeface="Bookman Old Style"/>
                <a:sym typeface="Bookman Old Style"/>
              </a:rPr>
              <a:t> Conclusion</a:t>
            </a:r>
            <a:endParaRPr dirty="0"/>
          </a:p>
          <a:p>
            <a:pPr marL="0" marR="0" lvl="0" indent="-127000" algn="l" rtl="0">
              <a:spcBef>
                <a:spcPts val="0"/>
              </a:spcBef>
              <a:spcAft>
                <a:spcPts val="0"/>
              </a:spcAft>
              <a:buClr>
                <a:srgbClr val="000000"/>
              </a:buClr>
              <a:buSzPts val="2000"/>
              <a:buFont typeface="Arial"/>
              <a:buChar char="•"/>
            </a:pPr>
            <a:r>
              <a:rPr lang="en-US" sz="2000" b="1" dirty="0">
                <a:solidFill>
                  <a:srgbClr val="000000"/>
                </a:solidFill>
                <a:latin typeface="Bookman Old Style"/>
                <a:ea typeface="Bookman Old Style"/>
                <a:cs typeface="Bookman Old Style"/>
                <a:sym typeface="Bookman Old Style"/>
              </a:rPr>
              <a:t> References</a:t>
            </a:r>
            <a:endParaRPr dirty="0"/>
          </a:p>
          <a:p>
            <a:pPr marL="0" marR="0" lvl="0" indent="0" algn="l" rtl="0">
              <a:lnSpc>
                <a:spcPct val="150000"/>
              </a:lnSpc>
              <a:spcBef>
                <a:spcPts val="0"/>
              </a:spcBef>
              <a:spcAft>
                <a:spcPts val="0"/>
              </a:spcAft>
              <a:buNone/>
            </a:pPr>
            <a:endParaRPr sz="2800" b="1" dirty="0">
              <a:solidFill>
                <a:srgbClr val="000000"/>
              </a:solidFill>
              <a:latin typeface="Calibri"/>
              <a:ea typeface="Calibri"/>
              <a:cs typeface="Calibri"/>
              <a:sym typeface="Calibri"/>
            </a:endParaRPr>
          </a:p>
          <a:p>
            <a:pPr marL="0" marR="0" lvl="0" indent="0" algn="l" rtl="0">
              <a:lnSpc>
                <a:spcPct val="150000"/>
              </a:lnSpc>
              <a:spcBef>
                <a:spcPts val="0"/>
              </a:spcBef>
              <a:spcAft>
                <a:spcPts val="0"/>
              </a:spcAft>
              <a:buNone/>
            </a:pPr>
            <a:endParaRPr sz="2800" b="1" dirty="0">
              <a:solidFill>
                <a:srgbClr val="000000"/>
              </a:solidFill>
              <a:latin typeface="Calibri"/>
              <a:ea typeface="Calibri"/>
              <a:cs typeface="Calibri"/>
              <a:sym typeface="Calibri"/>
            </a:endParaRPr>
          </a:p>
          <a:p>
            <a:pPr marL="0" marR="0" lvl="0" indent="0" algn="l" rtl="0">
              <a:lnSpc>
                <a:spcPct val="150000"/>
              </a:lnSpc>
              <a:spcBef>
                <a:spcPts val="0"/>
              </a:spcBef>
              <a:spcAft>
                <a:spcPts val="0"/>
              </a:spcAft>
              <a:buNone/>
            </a:pPr>
            <a:r>
              <a:rPr lang="en-US" sz="2800" b="1" dirty="0">
                <a:solidFill>
                  <a:srgbClr val="000000"/>
                </a:solidFill>
                <a:latin typeface="Calibri"/>
                <a:ea typeface="Calibri"/>
                <a:cs typeface="Calibri"/>
                <a:sym typeface="Calibri"/>
              </a:rPr>
              <a:t>	</a:t>
            </a:r>
            <a:endParaRPr sz="1800"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p:nvPr/>
        </p:nvSpPr>
        <p:spPr>
          <a:xfrm>
            <a:off x="533520" y="3505800"/>
            <a:ext cx="80766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16"/>
          <p:cNvSpPr/>
          <p:nvPr/>
        </p:nvSpPr>
        <p:spPr>
          <a:xfrm>
            <a:off x="2820240" y="2743200"/>
            <a:ext cx="8152560" cy="7603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4400" b="1">
                <a:latin typeface="Arial Black"/>
                <a:ea typeface="Arial Black"/>
                <a:cs typeface="Arial Black"/>
                <a:sym typeface="Arial Black"/>
              </a:rPr>
              <a:t>              </a:t>
            </a:r>
            <a:r>
              <a:rPr lang="en-US" sz="4400" b="1">
                <a:solidFill>
                  <a:srgbClr val="000000"/>
                </a:solidFill>
                <a:latin typeface="Arial Black"/>
                <a:ea typeface="Arial Black"/>
                <a:cs typeface="Arial Black"/>
                <a:sym typeface="Arial Black"/>
              </a:rPr>
              <a:t>Abstract </a:t>
            </a:r>
            <a:endParaRPr sz="1800">
              <a:solidFill>
                <a:schemeClr val="dk1"/>
              </a:solidFill>
              <a:latin typeface="Arial Black"/>
              <a:ea typeface="Arial Black"/>
              <a:cs typeface="Arial Black"/>
              <a:sym typeface="Arial Black"/>
            </a:endParaRPr>
          </a:p>
        </p:txBody>
      </p:sp>
      <p:sp>
        <p:nvSpPr>
          <p:cNvPr id="80" name="Google Shape;80;p16"/>
          <p:cNvSpPr/>
          <p:nvPr/>
        </p:nvSpPr>
        <p:spPr>
          <a:xfrm>
            <a:off x="685800" y="1295280"/>
            <a:ext cx="7619400" cy="77580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p:nvPr/>
        </p:nvSpPr>
        <p:spPr>
          <a:xfrm>
            <a:off x="457200" y="1066800"/>
            <a:ext cx="838116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 name="Google Shape;87;p17"/>
          <p:cNvSpPr txBox="1"/>
          <p:nvPr/>
        </p:nvSpPr>
        <p:spPr>
          <a:xfrm>
            <a:off x="533400" y="545068"/>
            <a:ext cx="3657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C00000"/>
                </a:solidFill>
                <a:latin typeface="Calibri"/>
                <a:ea typeface="Calibri"/>
                <a:cs typeface="Calibri"/>
                <a:sym typeface="Calibri"/>
              </a:rPr>
              <a:t>ABSTRACT</a:t>
            </a:r>
            <a:endParaRPr/>
          </a:p>
        </p:txBody>
      </p:sp>
      <p:sp>
        <p:nvSpPr>
          <p:cNvPr id="88" name="Google Shape;88;p17"/>
          <p:cNvSpPr txBox="1"/>
          <p:nvPr/>
        </p:nvSpPr>
        <p:spPr>
          <a:xfrm>
            <a:off x="305700" y="1142400"/>
            <a:ext cx="8381100" cy="549377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Arial"/>
              <a:buChar char="•"/>
            </a:pPr>
            <a:r>
              <a:rPr lang="en-US" sz="1800" dirty="0">
                <a:solidFill>
                  <a:schemeClr val="dk1"/>
                </a:solidFill>
                <a:latin typeface="+mn-lt"/>
                <a:cs typeface="Times New Roman" panose="02020603050405020304" pitchFamily="18" charset="0"/>
                <a:sym typeface="Arial"/>
              </a:rPr>
              <a:t>The main objective of placement tracking is to develop software which manages placement activities in college makes a interactive GUI where TPO can manage details of all students on his console he can send mails to students informing about placement activities. </a:t>
            </a:r>
            <a:endParaRPr sz="1800" dirty="0">
              <a:solidFill>
                <a:schemeClr val="dk1"/>
              </a:solidFill>
              <a:latin typeface="+mn-lt"/>
              <a:cs typeface="Times New Roman" panose="02020603050405020304" pitchFamily="18" charset="0"/>
              <a:sym typeface="Arial"/>
            </a:endParaRPr>
          </a:p>
          <a:p>
            <a:pPr marL="285750" marR="0" lvl="0" indent="-285750" algn="just" rtl="0">
              <a:lnSpc>
                <a:spcPct val="150000"/>
              </a:lnSpc>
              <a:spcBef>
                <a:spcPts val="0"/>
              </a:spcBef>
              <a:spcAft>
                <a:spcPts val="0"/>
              </a:spcAft>
              <a:buClr>
                <a:schemeClr val="dk1"/>
              </a:buClr>
              <a:buSzPts val="1800"/>
              <a:buFont typeface="Arial"/>
              <a:buChar char="•"/>
            </a:pPr>
            <a:r>
              <a:rPr lang="en-US" sz="1800" dirty="0">
                <a:solidFill>
                  <a:schemeClr val="dk1"/>
                </a:solidFill>
                <a:latin typeface="+mn-lt"/>
                <a:cs typeface="Times New Roman" panose="02020603050405020304" pitchFamily="18" charset="0"/>
                <a:sym typeface="Arial"/>
              </a:rPr>
              <a:t>Although such a project has a very wide scope, this project contains the most important part i.e., displaying the personal and academic information of student and company. The students and companies are also provided with the facility of editing some fields like username and password.</a:t>
            </a:r>
            <a:endParaRPr sz="1800" dirty="0">
              <a:solidFill>
                <a:schemeClr val="dk1"/>
              </a:solidFill>
              <a:latin typeface="+mn-lt"/>
              <a:cs typeface="Times New Roman" panose="02020603050405020304" pitchFamily="18" charset="0"/>
              <a:sym typeface="Arial"/>
            </a:endParaRPr>
          </a:p>
          <a:p>
            <a:pPr marL="285750" marR="0" lvl="0" indent="-285750" algn="just" rtl="0">
              <a:lnSpc>
                <a:spcPct val="150000"/>
              </a:lnSpc>
              <a:spcBef>
                <a:spcPts val="0"/>
              </a:spcBef>
              <a:spcAft>
                <a:spcPts val="0"/>
              </a:spcAft>
              <a:buClr>
                <a:schemeClr val="dk1"/>
              </a:buClr>
              <a:buSzPts val="1800"/>
              <a:buFont typeface="Arial"/>
              <a:buChar char="•"/>
            </a:pPr>
            <a:r>
              <a:rPr lang="en-US" sz="1800" dirty="0">
                <a:solidFill>
                  <a:schemeClr val="dk1"/>
                </a:solidFill>
                <a:latin typeface="+mn-lt"/>
                <a:cs typeface="Times New Roman" panose="02020603050405020304" pitchFamily="18" charset="0"/>
                <a:sym typeface="Arial"/>
              </a:rPr>
              <a:t> The project also allows a Data</a:t>
            </a:r>
            <a:r>
              <a:rPr lang="en-US" sz="1800" dirty="0">
                <a:solidFill>
                  <a:schemeClr val="dk1"/>
                </a:solidFill>
                <a:latin typeface="+mn-lt"/>
                <a:cs typeface="Times New Roman" panose="02020603050405020304" pitchFamily="18" charset="0"/>
              </a:rPr>
              <a:t>b</a:t>
            </a:r>
            <a:r>
              <a:rPr lang="en-US" sz="1800" dirty="0">
                <a:solidFill>
                  <a:schemeClr val="dk1"/>
                </a:solidFill>
                <a:latin typeface="+mn-lt"/>
                <a:cs typeface="Times New Roman" panose="02020603050405020304" pitchFamily="18" charset="0"/>
                <a:sym typeface="Arial"/>
              </a:rPr>
              <a:t>ase Administrator to enter the information of student and company which is then stored in the corresponding tables in the main database. </a:t>
            </a:r>
            <a:endParaRPr sz="1800" dirty="0">
              <a:solidFill>
                <a:schemeClr val="dk1"/>
              </a:solidFill>
              <a:latin typeface="+mn-lt"/>
              <a:cs typeface="Times New Roman" panose="02020603050405020304" pitchFamily="18" charset="0"/>
              <a:sym typeface="Arial"/>
            </a:endParaRPr>
          </a:p>
          <a:p>
            <a:pPr marL="285750" marR="0" lvl="0" indent="-285750" algn="just" rtl="0">
              <a:lnSpc>
                <a:spcPct val="150000"/>
              </a:lnSpc>
              <a:spcBef>
                <a:spcPts val="0"/>
              </a:spcBef>
              <a:spcAft>
                <a:spcPts val="0"/>
              </a:spcAft>
              <a:buClr>
                <a:schemeClr val="dk1"/>
              </a:buClr>
              <a:buSzPts val="1800"/>
              <a:buFont typeface="Arial"/>
              <a:buChar char="•"/>
            </a:pPr>
            <a:r>
              <a:rPr lang="en-US" sz="1800" dirty="0">
                <a:solidFill>
                  <a:schemeClr val="dk1"/>
                </a:solidFill>
                <a:latin typeface="+mn-lt"/>
                <a:cs typeface="Times New Roman" panose="02020603050405020304" pitchFamily="18" charset="0"/>
              </a:rPr>
              <a:t>The TPO</a:t>
            </a:r>
            <a:r>
              <a:rPr lang="en-US" sz="1800" dirty="0">
                <a:solidFill>
                  <a:schemeClr val="dk1"/>
                </a:solidFill>
                <a:latin typeface="+mn-lt"/>
                <a:cs typeface="Times New Roman" panose="02020603050405020304" pitchFamily="18" charset="0"/>
                <a:sym typeface="Arial"/>
              </a:rPr>
              <a:t> can also delete the student and company information after placement is over from the main database.</a:t>
            </a:r>
            <a:endParaRPr sz="1800" b="0" i="0" u="none" strike="noStrike" cap="none" dirty="0">
              <a:solidFill>
                <a:srgbClr val="000000"/>
              </a:solidFill>
              <a:latin typeface="+mn-lt"/>
              <a:cs typeface="Times New Roman" panose="02020603050405020304" pitchFamily="18" charset="0"/>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p:nvPr/>
        </p:nvSpPr>
        <p:spPr>
          <a:xfrm>
            <a:off x="228600" y="3505200"/>
            <a:ext cx="8381520" cy="7548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18"/>
          <p:cNvSpPr/>
          <p:nvPr/>
        </p:nvSpPr>
        <p:spPr>
          <a:xfrm>
            <a:off x="762000" y="2744880"/>
            <a:ext cx="10896600" cy="76032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4400" b="1">
                <a:solidFill>
                  <a:srgbClr val="000000"/>
                </a:solidFill>
                <a:latin typeface="Arial Black"/>
                <a:ea typeface="Arial Black"/>
                <a:cs typeface="Arial Black"/>
                <a:sym typeface="Arial Black"/>
              </a:rPr>
              <a:t>I</a:t>
            </a:r>
            <a:r>
              <a:rPr lang="en-US" sz="3200" b="1">
                <a:solidFill>
                  <a:srgbClr val="000000"/>
                </a:solidFill>
                <a:latin typeface="Arial Black"/>
                <a:ea typeface="Arial Black"/>
                <a:cs typeface="Arial Black"/>
                <a:sym typeface="Arial Black"/>
              </a:rPr>
              <a:t>NTRODUCTION</a:t>
            </a: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p:nvPr/>
        </p:nvSpPr>
        <p:spPr>
          <a:xfrm>
            <a:off x="457200" y="1105200"/>
            <a:ext cx="838116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19"/>
          <p:cNvSpPr/>
          <p:nvPr/>
        </p:nvSpPr>
        <p:spPr>
          <a:xfrm>
            <a:off x="457200" y="489360"/>
            <a:ext cx="8381160" cy="5774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3200" b="1">
                <a:solidFill>
                  <a:srgbClr val="C00000"/>
                </a:solidFill>
                <a:latin typeface="Calibri"/>
                <a:ea typeface="Calibri"/>
                <a:cs typeface="Calibri"/>
                <a:sym typeface="Calibri"/>
              </a:rPr>
              <a:t>Introduction</a:t>
            </a:r>
            <a:endParaRPr sz="1800">
              <a:solidFill>
                <a:srgbClr val="C00000"/>
              </a:solidFill>
              <a:latin typeface="Arial"/>
              <a:ea typeface="Arial"/>
              <a:cs typeface="Arial"/>
              <a:sym typeface="Arial"/>
            </a:endParaRPr>
          </a:p>
        </p:txBody>
      </p:sp>
      <p:sp>
        <p:nvSpPr>
          <p:cNvPr id="103" name="Google Shape;103;p19"/>
          <p:cNvSpPr txBox="1"/>
          <p:nvPr/>
        </p:nvSpPr>
        <p:spPr>
          <a:xfrm>
            <a:off x="5029200" y="3200400"/>
            <a:ext cx="38100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19"/>
          <p:cNvSpPr txBox="1"/>
          <p:nvPr/>
        </p:nvSpPr>
        <p:spPr>
          <a:xfrm>
            <a:off x="233425" y="1180800"/>
            <a:ext cx="8381100" cy="6324768"/>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000"/>
              <a:buFont typeface="Arial" panose="020B0604020202020204" pitchFamily="34" charset="0"/>
              <a:buChar char="•"/>
            </a:pPr>
            <a:r>
              <a:rPr lang="en-US" sz="1800" dirty="0">
                <a:solidFill>
                  <a:schemeClr val="dk1"/>
                </a:solidFill>
                <a:latin typeface="+mn-lt"/>
                <a:cs typeface="Times New Roman" panose="02020603050405020304" pitchFamily="18" charset="0"/>
                <a:sym typeface="Arial"/>
              </a:rPr>
              <a:t>The main objective of placement tracking is to develop software which manages placement activities in college makes a interactive GUI where TPO can manage details of all students on his console he can send a mails to students informing about placement activities. </a:t>
            </a:r>
            <a:endParaRPr sz="1800" dirty="0">
              <a:latin typeface="+mn-lt"/>
              <a:cs typeface="Times New Roman" panose="02020603050405020304" pitchFamily="18" charset="0"/>
            </a:endParaRPr>
          </a:p>
          <a:p>
            <a:pPr marL="342900" marR="0" lvl="0" indent="-342900" algn="just" rtl="0">
              <a:lnSpc>
                <a:spcPct val="150000"/>
              </a:lnSpc>
              <a:spcBef>
                <a:spcPts val="0"/>
              </a:spcBef>
              <a:spcAft>
                <a:spcPts val="0"/>
              </a:spcAft>
              <a:buClr>
                <a:schemeClr val="dk1"/>
              </a:buClr>
              <a:buSzPts val="2000"/>
              <a:buFont typeface="Arial" panose="020B0604020202020204" pitchFamily="34" charset="0"/>
              <a:buChar char="•"/>
            </a:pPr>
            <a:r>
              <a:rPr lang="en-US" sz="1800" dirty="0">
                <a:solidFill>
                  <a:schemeClr val="dk1"/>
                </a:solidFill>
                <a:latin typeface="+mn-lt"/>
                <a:cs typeface="Times New Roman" panose="02020603050405020304" pitchFamily="18" charset="0"/>
                <a:sym typeface="Arial"/>
              </a:rPr>
              <a:t>Although such a project has a very wide scope, this project contains the most important part i.e., displaying the personal and academic information of student and company.</a:t>
            </a:r>
            <a:endParaRPr sz="1800" dirty="0">
              <a:solidFill>
                <a:srgbClr val="000000"/>
              </a:solidFill>
              <a:latin typeface="+mn-lt"/>
              <a:cs typeface="Times New Roman" panose="02020603050405020304" pitchFamily="18" charset="0"/>
              <a:sym typeface="Arial"/>
            </a:endParaRPr>
          </a:p>
          <a:p>
            <a:pPr marL="342900" marR="0" lvl="0" indent="-342900" algn="just" rtl="0">
              <a:lnSpc>
                <a:spcPct val="150000"/>
              </a:lnSpc>
              <a:spcBef>
                <a:spcPts val="0"/>
              </a:spcBef>
              <a:spcAft>
                <a:spcPts val="0"/>
              </a:spcAft>
              <a:buClr>
                <a:schemeClr val="dk1"/>
              </a:buClr>
              <a:buSzPts val="2000"/>
              <a:buFont typeface="Arial" panose="020B0604020202020204" pitchFamily="34" charset="0"/>
              <a:buChar char="•"/>
            </a:pPr>
            <a:r>
              <a:rPr lang="en-US" sz="1800" dirty="0">
                <a:solidFill>
                  <a:schemeClr val="dk1"/>
                </a:solidFill>
                <a:latin typeface="+mn-lt"/>
                <a:cs typeface="Times New Roman" panose="02020603050405020304" pitchFamily="18" charset="0"/>
                <a:sym typeface="Arial"/>
              </a:rPr>
              <a:t>The students and companies are also provided with the facility of editing some fields like username and password.</a:t>
            </a:r>
            <a:endParaRPr sz="1800" dirty="0">
              <a:solidFill>
                <a:srgbClr val="000000"/>
              </a:solidFill>
              <a:latin typeface="+mn-lt"/>
              <a:cs typeface="Times New Roman" panose="02020603050405020304" pitchFamily="18" charset="0"/>
              <a:sym typeface="Arial"/>
            </a:endParaRPr>
          </a:p>
          <a:p>
            <a:pPr marL="342900" marR="0" lvl="0" indent="-342900" algn="just" rtl="0">
              <a:lnSpc>
                <a:spcPct val="150000"/>
              </a:lnSpc>
              <a:spcBef>
                <a:spcPts val="0"/>
              </a:spcBef>
              <a:spcAft>
                <a:spcPts val="0"/>
              </a:spcAft>
              <a:buClr>
                <a:schemeClr val="dk1"/>
              </a:buClr>
              <a:buSzPts val="2000"/>
              <a:buFont typeface="Arial" panose="020B0604020202020204" pitchFamily="34" charset="0"/>
              <a:buChar char="•"/>
            </a:pPr>
            <a:r>
              <a:rPr lang="en-US" sz="1800" dirty="0">
                <a:solidFill>
                  <a:schemeClr val="dk1"/>
                </a:solidFill>
                <a:latin typeface="+mn-lt"/>
                <a:cs typeface="Times New Roman" panose="02020603050405020304" pitchFamily="18" charset="0"/>
                <a:sym typeface="Arial"/>
              </a:rPr>
              <a:t>The project also allows a </a:t>
            </a:r>
            <a:r>
              <a:rPr lang="en-US" sz="1800" dirty="0">
                <a:solidFill>
                  <a:schemeClr val="dk1"/>
                </a:solidFill>
                <a:latin typeface="+mn-lt"/>
                <a:cs typeface="Times New Roman" panose="02020603050405020304" pitchFamily="18" charset="0"/>
              </a:rPr>
              <a:t>Database</a:t>
            </a:r>
            <a:r>
              <a:rPr lang="en-US" sz="1800" dirty="0">
                <a:solidFill>
                  <a:schemeClr val="dk1"/>
                </a:solidFill>
                <a:latin typeface="+mn-lt"/>
                <a:cs typeface="Times New Roman" panose="02020603050405020304" pitchFamily="18" charset="0"/>
                <a:sym typeface="Arial"/>
              </a:rPr>
              <a:t> Administrator to enter the information of student and company which is then stored in the corresponding tables in the main database. He can also delete the student and company information after placement is over from the main database.</a:t>
            </a:r>
            <a:endParaRPr sz="1800" b="0" i="0" u="none" strike="noStrike" cap="none" dirty="0">
              <a:solidFill>
                <a:srgbClr val="000000"/>
              </a:solidFill>
              <a:latin typeface="+mn-lt"/>
              <a:cs typeface="Times New Roman" panose="02020603050405020304" pitchFamily="18" charset="0"/>
              <a:sym typeface="Arial"/>
            </a:endParaRPr>
          </a:p>
          <a:p>
            <a:pPr marL="342900" marR="0" lvl="0" indent="-342900" algn="just" rtl="0">
              <a:lnSpc>
                <a:spcPct val="150000"/>
              </a:lnSpc>
              <a:spcBef>
                <a:spcPts val="0"/>
              </a:spcBef>
              <a:spcAft>
                <a:spcPts val="0"/>
              </a:spcAft>
              <a:buClr>
                <a:schemeClr val="dk1"/>
              </a:buClr>
              <a:buSzPts val="2000"/>
              <a:buFont typeface="Arial" panose="020B0604020202020204" pitchFamily="34" charset="0"/>
              <a:buChar char="•"/>
            </a:pPr>
            <a:endParaRPr sz="1800" b="0" i="0" u="none" strike="noStrike" cap="none" dirty="0">
              <a:solidFill>
                <a:srgbClr val="000000"/>
              </a:solidFill>
              <a:latin typeface="+mn-lt"/>
              <a:ea typeface="Times New Roman"/>
              <a:cs typeface="Times New Roman" panose="02020603050405020304" pitchFamily="18" charset="0"/>
              <a:sym typeface="Times New Roman"/>
            </a:endParaRPr>
          </a:p>
          <a:p>
            <a:pPr marL="342900" marR="0" lvl="0" indent="-215900" algn="just" rtl="0">
              <a:lnSpc>
                <a:spcPct val="150000"/>
              </a:lnSpc>
              <a:spcBef>
                <a:spcPts val="0"/>
              </a:spcBef>
              <a:spcAft>
                <a:spcPts val="0"/>
              </a:spcAft>
              <a:buClr>
                <a:schemeClr val="dk1"/>
              </a:buClr>
              <a:buSzPts val="2000"/>
              <a:buFont typeface="Noto Sans Symbols"/>
              <a:buNone/>
            </a:pPr>
            <a:endParaRPr sz="1800" b="0" i="0" u="none" strike="noStrike" cap="none" dirty="0">
              <a:solidFill>
                <a:srgbClr val="000000"/>
              </a:solidFill>
              <a:latin typeface="+mn-lt"/>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p:nvPr/>
        </p:nvSpPr>
        <p:spPr>
          <a:xfrm>
            <a:off x="703082" y="3429600"/>
            <a:ext cx="80766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1" name="Google Shape;111;p20"/>
          <p:cNvSpPr/>
          <p:nvPr/>
        </p:nvSpPr>
        <p:spPr>
          <a:xfrm>
            <a:off x="495540" y="2668680"/>
            <a:ext cx="8152560" cy="760320"/>
          </a:xfrm>
          <a:prstGeom prst="rect">
            <a:avLst/>
          </a:prstGeom>
          <a:noFill/>
          <a:ln>
            <a:noFill/>
          </a:ln>
        </p:spPr>
        <p:txBody>
          <a:bodyPr spcFirstLastPara="1" wrap="square" lIns="90000" tIns="45000" rIns="90000" bIns="45000" anchor="t" anchorCtr="0">
            <a:noAutofit/>
          </a:bodyPr>
          <a:lstStyle/>
          <a:p>
            <a:pPr marL="0" marR="0" lvl="0" indent="0" algn="r" rtl="0">
              <a:lnSpc>
                <a:spcPct val="100000"/>
              </a:lnSpc>
              <a:spcBef>
                <a:spcPts val="0"/>
              </a:spcBef>
              <a:spcAft>
                <a:spcPts val="0"/>
              </a:spcAft>
              <a:buNone/>
            </a:pPr>
            <a:r>
              <a:rPr lang="en-US" sz="4400" b="1">
                <a:solidFill>
                  <a:srgbClr val="000000"/>
                </a:solidFill>
                <a:latin typeface="Arial Black"/>
                <a:ea typeface="Arial Black"/>
                <a:cs typeface="Arial Black"/>
                <a:sym typeface="Arial Black"/>
              </a:rPr>
              <a:t>Research Objective </a:t>
            </a:r>
            <a:endParaRPr/>
          </a:p>
          <a:p>
            <a:pPr marL="0" marR="0" lvl="0" indent="0" algn="r" rtl="0">
              <a:lnSpc>
                <a:spcPct val="100000"/>
              </a:lnSpc>
              <a:spcBef>
                <a:spcPts val="0"/>
              </a:spcBef>
              <a:spcAft>
                <a:spcPts val="0"/>
              </a:spcAft>
              <a:buNone/>
            </a:pPr>
            <a:r>
              <a:rPr lang="en-US" sz="4400" b="1">
                <a:solidFill>
                  <a:srgbClr val="000000"/>
                </a:solidFill>
                <a:latin typeface="Arial Black"/>
                <a:ea typeface="Arial Black"/>
                <a:cs typeface="Arial Black"/>
                <a:sym typeface="Arial Black"/>
              </a:rPr>
              <a:t> </a:t>
            </a:r>
            <a:endParaRPr sz="1800">
              <a:solidFill>
                <a:schemeClr val="dk1"/>
              </a:solidFill>
              <a:latin typeface="Arial Black"/>
              <a:ea typeface="Arial Black"/>
              <a:cs typeface="Arial Black"/>
              <a:sym typeface="Arial Black"/>
            </a:endParaRPr>
          </a:p>
        </p:txBody>
      </p:sp>
      <p:sp>
        <p:nvSpPr>
          <p:cNvPr id="112" name="Google Shape;112;p20"/>
          <p:cNvSpPr/>
          <p:nvPr/>
        </p:nvSpPr>
        <p:spPr>
          <a:xfrm>
            <a:off x="685800" y="1295280"/>
            <a:ext cx="7619400" cy="77580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p:nvPr/>
        </p:nvSpPr>
        <p:spPr>
          <a:xfrm>
            <a:off x="457200" y="1066800"/>
            <a:ext cx="838116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21"/>
          <p:cNvSpPr txBox="1"/>
          <p:nvPr/>
        </p:nvSpPr>
        <p:spPr>
          <a:xfrm>
            <a:off x="304800" y="457200"/>
            <a:ext cx="35814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C00000"/>
                </a:solidFill>
                <a:latin typeface="Calibri"/>
                <a:ea typeface="Calibri"/>
                <a:cs typeface="Calibri"/>
                <a:sym typeface="Calibri"/>
              </a:rPr>
              <a:t>Research objective</a:t>
            </a:r>
            <a:endParaRPr/>
          </a:p>
        </p:txBody>
      </p:sp>
      <p:sp>
        <p:nvSpPr>
          <p:cNvPr id="119" name="Google Shape;119;p21"/>
          <p:cNvSpPr txBox="1"/>
          <p:nvPr/>
        </p:nvSpPr>
        <p:spPr>
          <a:xfrm>
            <a:off x="457200" y="1426028"/>
            <a:ext cx="8001000" cy="38317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000"/>
              <a:buFont typeface="Arial"/>
              <a:buChar char="•"/>
            </a:pPr>
            <a:r>
              <a:rPr lang="en-US" sz="1800" dirty="0">
                <a:solidFill>
                  <a:schemeClr val="dk1"/>
                </a:solidFill>
                <a:latin typeface="+mn-lt"/>
                <a:cs typeface="Times New Roman" panose="02020603050405020304" pitchFamily="18" charset="0"/>
                <a:sym typeface="Arial"/>
              </a:rPr>
              <a:t>This project is aimed at developing an online application for the training and placement department of the college. The system is an online application that can be accessed throughout the organization and outside as well proper login provided. </a:t>
            </a:r>
            <a:endParaRPr sz="1800" dirty="0">
              <a:solidFill>
                <a:schemeClr val="dk1"/>
              </a:solidFill>
              <a:latin typeface="+mn-lt"/>
              <a:cs typeface="Times New Roman" panose="02020603050405020304" pitchFamily="18" charset="0"/>
              <a:sym typeface="Arial"/>
            </a:endParaRPr>
          </a:p>
          <a:p>
            <a:pPr marL="285750" marR="0" lvl="0" indent="-285750" algn="l" rtl="0">
              <a:lnSpc>
                <a:spcPct val="150000"/>
              </a:lnSpc>
              <a:spcBef>
                <a:spcPts val="0"/>
              </a:spcBef>
              <a:spcAft>
                <a:spcPts val="0"/>
              </a:spcAft>
              <a:buClr>
                <a:schemeClr val="dk1"/>
              </a:buClr>
              <a:buSzPts val="2000"/>
              <a:buFont typeface="Arial"/>
              <a:buChar char="•"/>
            </a:pPr>
            <a:r>
              <a:rPr lang="en-US" sz="1800" dirty="0">
                <a:solidFill>
                  <a:schemeClr val="dk1"/>
                </a:solidFill>
                <a:latin typeface="+mn-lt"/>
                <a:cs typeface="Times New Roman" panose="02020603050405020304" pitchFamily="18" charset="0"/>
                <a:sym typeface="Arial"/>
              </a:rPr>
              <a:t>This can be used as an application for the TPO of the college to manage the student information with regards to placement.</a:t>
            </a:r>
            <a:endParaRPr sz="1800" dirty="0">
              <a:solidFill>
                <a:schemeClr val="dk1"/>
              </a:solidFill>
              <a:latin typeface="+mn-lt"/>
              <a:cs typeface="Times New Roman" panose="02020603050405020304" pitchFamily="18" charset="0"/>
            </a:endParaRPr>
          </a:p>
          <a:p>
            <a:pPr marL="285750" marR="0" lvl="0" indent="-285750" algn="l" rtl="0">
              <a:lnSpc>
                <a:spcPct val="150000"/>
              </a:lnSpc>
              <a:spcBef>
                <a:spcPts val="0"/>
              </a:spcBef>
              <a:spcAft>
                <a:spcPts val="0"/>
              </a:spcAft>
              <a:buClr>
                <a:schemeClr val="dk1"/>
              </a:buClr>
              <a:buSzPts val="2000"/>
              <a:buFont typeface="Arial"/>
              <a:buChar char="•"/>
            </a:pPr>
            <a:r>
              <a:rPr lang="en-US" sz="1800" dirty="0">
                <a:solidFill>
                  <a:schemeClr val="dk1"/>
                </a:solidFill>
                <a:latin typeface="+mn-lt"/>
                <a:cs typeface="Times New Roman" panose="02020603050405020304" pitchFamily="18" charset="0"/>
                <a:sym typeface="Arial"/>
              </a:rPr>
              <a:t>Student’s login should be able to upload their information of a company representatives logging in may also access or search any information put up by students. </a:t>
            </a:r>
            <a:endParaRPr sz="1800" dirty="0">
              <a:latin typeface="+mn-lt"/>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p:nvPr/>
        </p:nvSpPr>
        <p:spPr>
          <a:xfrm>
            <a:off x="686400" y="3581400"/>
            <a:ext cx="80766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22"/>
          <p:cNvSpPr/>
          <p:nvPr/>
        </p:nvSpPr>
        <p:spPr>
          <a:xfrm>
            <a:off x="1448640" y="2819400"/>
            <a:ext cx="8152560" cy="76032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4400" b="1">
                <a:solidFill>
                  <a:srgbClr val="000000"/>
                </a:solidFill>
                <a:latin typeface="Arial Black"/>
                <a:ea typeface="Arial Black"/>
                <a:cs typeface="Arial Black"/>
                <a:sym typeface="Arial Black"/>
              </a:rPr>
              <a:t>Problem Definition </a:t>
            </a:r>
            <a:endParaRPr sz="1800">
              <a:solidFill>
                <a:schemeClr val="dk1"/>
              </a:solidFill>
              <a:latin typeface="Arial Black"/>
              <a:ea typeface="Arial Black"/>
              <a:cs typeface="Arial Black"/>
              <a:sym typeface="Arial Black"/>
            </a:endParaRPr>
          </a:p>
        </p:txBody>
      </p:sp>
      <p:sp>
        <p:nvSpPr>
          <p:cNvPr id="127" name="Google Shape;127;p22"/>
          <p:cNvSpPr/>
          <p:nvPr/>
        </p:nvSpPr>
        <p:spPr>
          <a:xfrm>
            <a:off x="685800" y="1357800"/>
            <a:ext cx="7619400" cy="77580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p:nvPr/>
        </p:nvSpPr>
        <p:spPr>
          <a:xfrm>
            <a:off x="457200" y="1066800"/>
            <a:ext cx="838116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3" name="Google Shape;133;p23"/>
          <p:cNvSpPr txBox="1"/>
          <p:nvPr/>
        </p:nvSpPr>
        <p:spPr>
          <a:xfrm>
            <a:off x="304800" y="457200"/>
            <a:ext cx="39624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C00000"/>
                </a:solidFill>
                <a:latin typeface="Calibri"/>
                <a:ea typeface="Calibri"/>
                <a:cs typeface="Calibri"/>
                <a:sym typeface="Calibri"/>
              </a:rPr>
              <a:t>Problem Definition</a:t>
            </a:r>
            <a:endParaRPr/>
          </a:p>
        </p:txBody>
      </p:sp>
      <p:sp>
        <p:nvSpPr>
          <p:cNvPr id="134" name="Google Shape;134;p23"/>
          <p:cNvSpPr txBox="1"/>
          <p:nvPr/>
        </p:nvSpPr>
        <p:spPr>
          <a:xfrm>
            <a:off x="304800" y="1230194"/>
            <a:ext cx="8229600" cy="466277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2000"/>
              <a:buFont typeface="Arial"/>
              <a:buChar char="•"/>
            </a:pPr>
            <a:r>
              <a:rPr lang="en-US" sz="1800" b="0" i="0" dirty="0">
                <a:solidFill>
                  <a:schemeClr val="dk1"/>
                </a:solidFill>
                <a:latin typeface="+mn-lt"/>
                <a:ea typeface="Times New Roman"/>
                <a:cs typeface="Times New Roman"/>
                <a:sym typeface="Times New Roman"/>
              </a:rPr>
              <a:t>The problem definition should emphasize the need to automate various stages of campus selection, including job postings, candidate applications, interview scheduling, and feedback collection. </a:t>
            </a:r>
            <a:endParaRPr sz="1800" dirty="0">
              <a:latin typeface="+mn-lt"/>
            </a:endParaRPr>
          </a:p>
          <a:p>
            <a:pPr marL="285750" marR="0" lvl="0" indent="-285750" algn="just" rtl="0">
              <a:lnSpc>
                <a:spcPct val="150000"/>
              </a:lnSpc>
              <a:spcBef>
                <a:spcPts val="0"/>
              </a:spcBef>
              <a:spcAft>
                <a:spcPts val="0"/>
              </a:spcAft>
              <a:buClr>
                <a:schemeClr val="dk1"/>
              </a:buClr>
              <a:buSzPts val="2000"/>
              <a:buFont typeface="Arial"/>
              <a:buChar char="•"/>
            </a:pPr>
            <a:r>
              <a:rPr lang="en-US" sz="1800" b="0" i="0" dirty="0">
                <a:solidFill>
                  <a:schemeClr val="dk1"/>
                </a:solidFill>
                <a:latin typeface="+mn-lt"/>
                <a:ea typeface="Times New Roman"/>
                <a:cs typeface="Times New Roman"/>
                <a:sym typeface="Times New Roman"/>
              </a:rPr>
              <a:t>The primary objective of the campus selection system is to streamline the process of selecting and recruiting suitable candidates from educational institutions (e.g., universities, colleges) for employment opportunities.</a:t>
            </a:r>
            <a:endParaRPr sz="1800" dirty="0">
              <a:latin typeface="+mn-lt"/>
            </a:endParaRPr>
          </a:p>
          <a:p>
            <a:pPr marL="285750" marR="0" lvl="0" indent="-285750" algn="just" rtl="0">
              <a:lnSpc>
                <a:spcPct val="150000"/>
              </a:lnSpc>
              <a:spcBef>
                <a:spcPts val="0"/>
              </a:spcBef>
              <a:spcAft>
                <a:spcPts val="0"/>
              </a:spcAft>
              <a:buClr>
                <a:schemeClr val="dk1"/>
              </a:buClr>
              <a:buSzPts val="2000"/>
              <a:buFont typeface="Arial"/>
              <a:buChar char="•"/>
            </a:pPr>
            <a:r>
              <a:rPr lang="en-US" sz="1800" dirty="0">
                <a:solidFill>
                  <a:schemeClr val="dk1"/>
                </a:solidFill>
                <a:latin typeface="+mn-lt"/>
                <a:ea typeface="Times New Roman"/>
                <a:cs typeface="Times New Roman"/>
                <a:sym typeface="Times New Roman"/>
              </a:rPr>
              <a:t>We can store information of all the students according to various streams. Various companies can access the information. Students can maintain their information.</a:t>
            </a:r>
            <a:endParaRPr sz="1800" dirty="0">
              <a:latin typeface="+mn-lt"/>
            </a:endParaRPr>
          </a:p>
          <a:p>
            <a:pPr marL="285750" marR="0" lvl="0" indent="-285750" algn="just" rtl="0">
              <a:lnSpc>
                <a:spcPct val="150000"/>
              </a:lnSpc>
              <a:spcBef>
                <a:spcPts val="0"/>
              </a:spcBef>
              <a:spcAft>
                <a:spcPts val="0"/>
              </a:spcAft>
              <a:buClr>
                <a:schemeClr val="dk1"/>
              </a:buClr>
              <a:buSzPts val="2000"/>
              <a:buFont typeface="Arial"/>
              <a:buChar char="•"/>
            </a:pPr>
            <a:r>
              <a:rPr lang="en-US" sz="1800" dirty="0">
                <a:solidFill>
                  <a:schemeClr val="dk1"/>
                </a:solidFill>
                <a:latin typeface="+mn-lt"/>
                <a:ea typeface="Times New Roman"/>
                <a:cs typeface="Times New Roman"/>
                <a:sym typeface="Times New Roman"/>
              </a:rPr>
              <a:t>It can provide assessments to the students those who are selected according to their criteria.</a:t>
            </a:r>
            <a:endParaRPr sz="1800" dirty="0">
              <a:solidFill>
                <a:schemeClr val="dk1"/>
              </a:solidFill>
              <a:latin typeface="+mn-lt"/>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p:nvPr/>
        </p:nvSpPr>
        <p:spPr>
          <a:xfrm>
            <a:off x="686400" y="3581400"/>
            <a:ext cx="80766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24"/>
          <p:cNvSpPr/>
          <p:nvPr/>
        </p:nvSpPr>
        <p:spPr>
          <a:xfrm>
            <a:off x="1448640" y="2819400"/>
            <a:ext cx="8152500" cy="7602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4400" b="1" dirty="0">
                <a:latin typeface="Arial Black"/>
                <a:ea typeface="Arial Black"/>
                <a:cs typeface="Arial Black"/>
                <a:sym typeface="Arial Black"/>
              </a:rPr>
              <a:t>        </a:t>
            </a:r>
            <a:r>
              <a:rPr lang="en-US" sz="4400" b="1" dirty="0">
                <a:solidFill>
                  <a:srgbClr val="000000"/>
                </a:solidFill>
                <a:latin typeface="Arial Black"/>
                <a:ea typeface="Arial Black"/>
                <a:cs typeface="Arial Black"/>
                <a:sym typeface="Arial Black"/>
              </a:rPr>
              <a:t>Pro</a:t>
            </a:r>
            <a:r>
              <a:rPr lang="en-US" sz="4400" b="1" dirty="0">
                <a:latin typeface="Arial Black"/>
                <a:ea typeface="Arial Black"/>
                <a:cs typeface="Arial Black"/>
                <a:sym typeface="Arial Black"/>
              </a:rPr>
              <a:t>ject Scope</a:t>
            </a:r>
            <a:r>
              <a:rPr lang="en-US" sz="4400" b="1" dirty="0">
                <a:solidFill>
                  <a:srgbClr val="000000"/>
                </a:solidFill>
                <a:latin typeface="Arial Black"/>
                <a:ea typeface="Arial Black"/>
                <a:cs typeface="Arial Black"/>
                <a:sym typeface="Arial Black"/>
              </a:rPr>
              <a:t> </a:t>
            </a:r>
            <a:endParaRPr sz="1800" dirty="0">
              <a:solidFill>
                <a:schemeClr val="dk1"/>
              </a:solidFill>
              <a:latin typeface="Arial Black"/>
              <a:ea typeface="Arial Black"/>
              <a:cs typeface="Arial Black"/>
              <a:sym typeface="Arial Black"/>
            </a:endParaRPr>
          </a:p>
        </p:txBody>
      </p:sp>
      <p:sp>
        <p:nvSpPr>
          <p:cNvPr id="142" name="Google Shape;142;p24"/>
          <p:cNvSpPr/>
          <p:nvPr/>
        </p:nvSpPr>
        <p:spPr>
          <a:xfrm>
            <a:off x="685800" y="1357800"/>
            <a:ext cx="7619400" cy="77580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p:nvPr/>
        </p:nvSpPr>
        <p:spPr>
          <a:xfrm>
            <a:off x="457200" y="1066680"/>
            <a:ext cx="838116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25"/>
          <p:cNvSpPr/>
          <p:nvPr/>
        </p:nvSpPr>
        <p:spPr>
          <a:xfrm>
            <a:off x="457200" y="533400"/>
            <a:ext cx="8381160" cy="4557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2800" b="1">
                <a:solidFill>
                  <a:srgbClr val="C00000"/>
                </a:solidFill>
                <a:latin typeface="Arial"/>
                <a:ea typeface="Arial"/>
                <a:cs typeface="Arial"/>
                <a:sym typeface="Arial"/>
              </a:rPr>
              <a:t>Project Scope </a:t>
            </a:r>
            <a:endParaRPr sz="2800" b="1">
              <a:solidFill>
                <a:srgbClr val="C00000"/>
              </a:solidFill>
              <a:latin typeface="Arial"/>
              <a:ea typeface="Arial"/>
              <a:cs typeface="Arial"/>
              <a:sym typeface="Arial"/>
            </a:endParaRPr>
          </a:p>
        </p:txBody>
      </p:sp>
      <p:sp>
        <p:nvSpPr>
          <p:cNvPr id="149" name="Google Shape;149;p25"/>
          <p:cNvSpPr txBox="1"/>
          <p:nvPr/>
        </p:nvSpPr>
        <p:spPr>
          <a:xfrm>
            <a:off x="577997" y="1502229"/>
            <a:ext cx="7620000" cy="341627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2000"/>
              <a:buFont typeface="Arial"/>
              <a:buChar char="•"/>
            </a:pPr>
            <a:r>
              <a:rPr lang="en-US" sz="1800" dirty="0">
                <a:solidFill>
                  <a:schemeClr val="dk1"/>
                </a:solidFill>
                <a:latin typeface="+mn-lt"/>
                <a:ea typeface="Times New Roman"/>
                <a:cs typeface="Times New Roman"/>
                <a:sym typeface="Times New Roman"/>
              </a:rPr>
              <a:t>Our project has a big scope to do. We can store information of all the students according to various streams. Various companies can access the information. Students can maintain their information. Notifications are sending to students about the companies. </a:t>
            </a:r>
            <a:endParaRPr sz="1800" dirty="0">
              <a:latin typeface="+mn-lt"/>
            </a:endParaRPr>
          </a:p>
          <a:p>
            <a:pPr marL="342900" marR="0" lvl="0" indent="-342900" algn="l" rtl="0">
              <a:lnSpc>
                <a:spcPct val="150000"/>
              </a:lnSpc>
              <a:spcBef>
                <a:spcPts val="0"/>
              </a:spcBef>
              <a:spcAft>
                <a:spcPts val="0"/>
              </a:spcAft>
              <a:buClr>
                <a:schemeClr val="dk1"/>
              </a:buClr>
              <a:buSzPts val="2000"/>
              <a:buFont typeface="Arial"/>
              <a:buChar char="•"/>
            </a:pPr>
            <a:r>
              <a:rPr lang="en-US" sz="1800" b="0" i="0" dirty="0">
                <a:solidFill>
                  <a:schemeClr val="dk1"/>
                </a:solidFill>
                <a:latin typeface="+mn-lt"/>
                <a:ea typeface="Times New Roman"/>
                <a:cs typeface="Times New Roman"/>
                <a:sym typeface="Times New Roman"/>
              </a:rPr>
              <a:t>Develop a user-friendly platform that caters to the needs of recruiters, educational institutions, and students, providing features for job posting, candidate management, interview scheduling, and feedback collection</a:t>
            </a:r>
            <a:endParaRPr sz="1800" dirty="0">
              <a:solidFill>
                <a:schemeClr val="dk1"/>
              </a:solidFill>
              <a:latin typeface="+mn-lt"/>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p:nvPr/>
        </p:nvSpPr>
        <p:spPr>
          <a:xfrm>
            <a:off x="686400" y="3581400"/>
            <a:ext cx="80766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6" name="Google Shape;156;p26"/>
          <p:cNvSpPr/>
          <p:nvPr/>
        </p:nvSpPr>
        <p:spPr>
          <a:xfrm>
            <a:off x="1448640" y="2819400"/>
            <a:ext cx="8152500" cy="7602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4400" b="1" dirty="0">
                <a:latin typeface="Arial Black"/>
                <a:ea typeface="Arial Black"/>
                <a:cs typeface="Arial Black"/>
                <a:sym typeface="Arial Black"/>
              </a:rPr>
              <a:t>   Literature Survey</a:t>
            </a:r>
            <a:endParaRPr sz="1800" dirty="0">
              <a:solidFill>
                <a:schemeClr val="dk1"/>
              </a:solidFill>
              <a:latin typeface="Arial Black"/>
              <a:ea typeface="Arial Black"/>
              <a:cs typeface="Arial Black"/>
              <a:sym typeface="Arial Black"/>
            </a:endParaRPr>
          </a:p>
        </p:txBody>
      </p:sp>
      <p:sp>
        <p:nvSpPr>
          <p:cNvPr id="157" name="Google Shape;157;p26"/>
          <p:cNvSpPr/>
          <p:nvPr/>
        </p:nvSpPr>
        <p:spPr>
          <a:xfrm>
            <a:off x="685800" y="1357800"/>
            <a:ext cx="7619400" cy="77580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7"/>
          <p:cNvSpPr/>
          <p:nvPr/>
        </p:nvSpPr>
        <p:spPr>
          <a:xfrm>
            <a:off x="457200" y="1066680"/>
            <a:ext cx="83811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3" name="Google Shape;163;p27"/>
          <p:cNvSpPr/>
          <p:nvPr/>
        </p:nvSpPr>
        <p:spPr>
          <a:xfrm>
            <a:off x="457200" y="533400"/>
            <a:ext cx="8381100" cy="45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3200" b="1" dirty="0">
                <a:solidFill>
                  <a:srgbClr val="C00000"/>
                </a:solidFill>
                <a:latin typeface="Calibri"/>
                <a:ea typeface="Calibri"/>
                <a:cs typeface="Calibri"/>
                <a:sym typeface="Calibri"/>
              </a:rPr>
              <a:t>Existing Solutions</a:t>
            </a:r>
            <a:endParaRPr sz="3200" dirty="0">
              <a:solidFill>
                <a:srgbClr val="C00000"/>
              </a:solidFill>
              <a:latin typeface="Arial"/>
              <a:ea typeface="Arial"/>
              <a:cs typeface="Arial"/>
              <a:sym typeface="Arial"/>
            </a:endParaRPr>
          </a:p>
        </p:txBody>
      </p:sp>
      <p:sp>
        <p:nvSpPr>
          <p:cNvPr id="164" name="Google Shape;164;p27"/>
          <p:cNvSpPr txBox="1"/>
          <p:nvPr/>
        </p:nvSpPr>
        <p:spPr>
          <a:xfrm>
            <a:off x="457200" y="1142280"/>
            <a:ext cx="7848600" cy="535527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1" dirty="0">
                <a:solidFill>
                  <a:schemeClr val="dk1"/>
                </a:solidFill>
                <a:latin typeface="+mn-lt"/>
                <a:cs typeface="Times New Roman" panose="02020603050405020304" pitchFamily="18" charset="0"/>
              </a:rPr>
              <a:t>1.TRADITIONAL SYSTEM:</a:t>
            </a:r>
            <a:endParaRPr sz="1800" b="1" dirty="0">
              <a:solidFill>
                <a:schemeClr val="dk1"/>
              </a:solidFill>
              <a:latin typeface="+mn-lt"/>
              <a:cs typeface="Times New Roman" panose="02020603050405020304" pitchFamily="18" charset="0"/>
            </a:endParaRPr>
          </a:p>
          <a:p>
            <a:pPr marL="457200" marR="0" lvl="0" indent="-342900" algn="l" rtl="0">
              <a:lnSpc>
                <a:spcPct val="150000"/>
              </a:lnSpc>
              <a:spcBef>
                <a:spcPts val="0"/>
              </a:spcBef>
              <a:spcAft>
                <a:spcPts val="0"/>
              </a:spcAft>
              <a:buClr>
                <a:schemeClr val="dk1"/>
              </a:buClr>
              <a:buSzPts val="1800"/>
              <a:buChar char="●"/>
            </a:pPr>
            <a:r>
              <a:rPr lang="en-US" sz="1800" dirty="0">
                <a:solidFill>
                  <a:schemeClr val="dk1"/>
                </a:solidFill>
                <a:latin typeface="+mn-lt"/>
                <a:cs typeface="Times New Roman" panose="02020603050405020304" pitchFamily="18" charset="0"/>
              </a:rPr>
              <a:t>The main aim of this system is completing the campus selection in college under TPO and college management.</a:t>
            </a:r>
            <a:endParaRPr sz="1800" dirty="0">
              <a:solidFill>
                <a:schemeClr val="dk1"/>
              </a:solidFill>
              <a:latin typeface="+mn-lt"/>
              <a:cs typeface="Times New Roman" panose="02020603050405020304" pitchFamily="18" charset="0"/>
            </a:endParaRPr>
          </a:p>
          <a:p>
            <a:pPr marL="457200" marR="0" lvl="0" indent="-342900" algn="l" rtl="0">
              <a:lnSpc>
                <a:spcPct val="150000"/>
              </a:lnSpc>
              <a:spcBef>
                <a:spcPts val="0"/>
              </a:spcBef>
              <a:spcAft>
                <a:spcPts val="0"/>
              </a:spcAft>
              <a:buClr>
                <a:schemeClr val="dk1"/>
              </a:buClr>
              <a:buSzPts val="1800"/>
              <a:buChar char="●"/>
            </a:pPr>
            <a:r>
              <a:rPr lang="en-US" sz="1800" dirty="0">
                <a:solidFill>
                  <a:schemeClr val="dk1"/>
                </a:solidFill>
                <a:latin typeface="+mn-lt"/>
                <a:cs typeface="Times New Roman" panose="02020603050405020304" pitchFamily="18" charset="0"/>
              </a:rPr>
              <a:t>This traditional system uses more paper work </a:t>
            </a:r>
            <a:r>
              <a:rPr lang="en-US" sz="1800" dirty="0" err="1">
                <a:solidFill>
                  <a:schemeClr val="dk1"/>
                </a:solidFill>
                <a:latin typeface="+mn-lt"/>
                <a:cs typeface="Times New Roman" panose="02020603050405020304" pitchFamily="18" charset="0"/>
              </a:rPr>
              <a:t>andTime</a:t>
            </a:r>
            <a:r>
              <a:rPr lang="en-US" sz="1800" dirty="0">
                <a:solidFill>
                  <a:schemeClr val="dk1"/>
                </a:solidFill>
                <a:latin typeface="+mn-lt"/>
                <a:cs typeface="Times New Roman" panose="02020603050405020304" pitchFamily="18" charset="0"/>
              </a:rPr>
              <a:t>.</a:t>
            </a:r>
            <a:endParaRPr sz="1800" dirty="0">
              <a:solidFill>
                <a:schemeClr val="dk1"/>
              </a:solidFill>
              <a:latin typeface="+mn-lt"/>
              <a:cs typeface="Times New Roman" panose="02020603050405020304" pitchFamily="18" charset="0"/>
            </a:endParaRPr>
          </a:p>
          <a:p>
            <a:pPr marL="457200" marR="0" lvl="0" indent="-342900" algn="l" rtl="0">
              <a:lnSpc>
                <a:spcPct val="150000"/>
              </a:lnSpc>
              <a:spcBef>
                <a:spcPts val="0"/>
              </a:spcBef>
              <a:spcAft>
                <a:spcPts val="0"/>
              </a:spcAft>
              <a:buClr>
                <a:schemeClr val="dk1"/>
              </a:buClr>
              <a:buSzPts val="1800"/>
              <a:buChar char="●"/>
            </a:pPr>
            <a:r>
              <a:rPr lang="en-US" sz="1800" dirty="0">
                <a:solidFill>
                  <a:schemeClr val="dk1"/>
                </a:solidFill>
                <a:latin typeface="+mn-lt"/>
                <a:cs typeface="Times New Roman" panose="02020603050405020304" pitchFamily="18" charset="0"/>
              </a:rPr>
              <a:t>Data is stored manually and may not be secure.</a:t>
            </a:r>
            <a:endParaRPr sz="1800" dirty="0">
              <a:solidFill>
                <a:schemeClr val="dk1"/>
              </a:solidFill>
              <a:latin typeface="+mn-lt"/>
              <a:cs typeface="Times New Roman" panose="02020603050405020304" pitchFamily="18" charset="0"/>
            </a:endParaRPr>
          </a:p>
          <a:p>
            <a:pPr marL="0" marR="0" lvl="0" indent="0" algn="l" rtl="0">
              <a:lnSpc>
                <a:spcPct val="150000"/>
              </a:lnSpc>
              <a:spcBef>
                <a:spcPts val="0"/>
              </a:spcBef>
              <a:spcAft>
                <a:spcPts val="0"/>
              </a:spcAft>
              <a:buNone/>
            </a:pPr>
            <a:r>
              <a:rPr lang="en-US" sz="1800" b="1" dirty="0">
                <a:solidFill>
                  <a:schemeClr val="dk1"/>
                </a:solidFill>
                <a:latin typeface="+mn-lt"/>
                <a:cs typeface="Times New Roman" panose="02020603050405020304" pitchFamily="18" charset="0"/>
              </a:rPr>
              <a:t>2.ONLINE SELECTION SYSTEM USING ASP.NET :</a:t>
            </a:r>
          </a:p>
          <a:p>
            <a:pPr marL="457200" marR="0" lvl="0" indent="-342900" algn="l" rtl="0">
              <a:lnSpc>
                <a:spcPct val="150000"/>
              </a:lnSpc>
              <a:spcBef>
                <a:spcPts val="0"/>
              </a:spcBef>
              <a:spcAft>
                <a:spcPts val="0"/>
              </a:spcAft>
              <a:buClr>
                <a:schemeClr val="dk1"/>
              </a:buClr>
              <a:buSzPts val="1800"/>
              <a:buChar char="●"/>
            </a:pPr>
            <a:r>
              <a:rPr lang="en-US" sz="1800" dirty="0">
                <a:solidFill>
                  <a:schemeClr val="dk1"/>
                </a:solidFill>
                <a:latin typeface="+mn-lt"/>
                <a:cs typeface="Times New Roman" panose="02020603050405020304" pitchFamily="18" charset="0"/>
              </a:rPr>
              <a:t>The aim of the project is to develop a online campus selection system which is updated version to conduct placements .</a:t>
            </a:r>
          </a:p>
          <a:p>
            <a:pPr marL="457200" marR="0" lvl="0" indent="-342900" algn="l" rtl="0">
              <a:lnSpc>
                <a:spcPct val="150000"/>
              </a:lnSpc>
              <a:spcBef>
                <a:spcPts val="0"/>
              </a:spcBef>
              <a:spcAft>
                <a:spcPts val="0"/>
              </a:spcAft>
              <a:buClr>
                <a:schemeClr val="dk1"/>
              </a:buClr>
              <a:buSzPts val="1800"/>
              <a:buChar char="●"/>
            </a:pPr>
            <a:r>
              <a:rPr lang="en-US" sz="1800" dirty="0">
                <a:solidFill>
                  <a:schemeClr val="dk1"/>
                </a:solidFill>
                <a:latin typeface="+mn-lt"/>
                <a:cs typeface="Times New Roman" panose="02020603050405020304" pitchFamily="18" charset="0"/>
              </a:rPr>
              <a:t>This website can be individual to its own college.</a:t>
            </a:r>
            <a:endParaRPr sz="1800" dirty="0">
              <a:solidFill>
                <a:schemeClr val="dk1"/>
              </a:solidFill>
              <a:latin typeface="+mn-lt"/>
              <a:cs typeface="Times New Roman" panose="02020603050405020304" pitchFamily="18" charset="0"/>
            </a:endParaRPr>
          </a:p>
          <a:p>
            <a:pPr marL="0" marR="0" lvl="0" indent="0" algn="l" rtl="0">
              <a:lnSpc>
                <a:spcPct val="150000"/>
              </a:lnSpc>
              <a:spcBef>
                <a:spcPts val="0"/>
              </a:spcBef>
              <a:spcAft>
                <a:spcPts val="0"/>
              </a:spcAft>
              <a:buNone/>
            </a:pPr>
            <a:r>
              <a:rPr lang="en-US" sz="1800" b="1" dirty="0">
                <a:solidFill>
                  <a:schemeClr val="dk1"/>
                </a:solidFill>
                <a:latin typeface="+mn-lt"/>
                <a:cs typeface="Times New Roman" panose="02020603050405020304" pitchFamily="18" charset="0"/>
              </a:rPr>
              <a:t>3. ONLINE PREDICTION SYSTEM :</a:t>
            </a:r>
          </a:p>
          <a:p>
            <a:pPr marL="457200" marR="0" lvl="0" indent="-342900" algn="l" rtl="0">
              <a:lnSpc>
                <a:spcPct val="150000"/>
              </a:lnSpc>
              <a:spcBef>
                <a:spcPts val="0"/>
              </a:spcBef>
              <a:spcAft>
                <a:spcPts val="0"/>
              </a:spcAft>
              <a:buClr>
                <a:schemeClr val="dk1"/>
              </a:buClr>
              <a:buSzPts val="1800"/>
              <a:buChar char="●"/>
            </a:pPr>
            <a:r>
              <a:rPr lang="en-US" sz="1800" dirty="0">
                <a:solidFill>
                  <a:schemeClr val="dk1"/>
                </a:solidFill>
                <a:latin typeface="+mn-lt"/>
                <a:cs typeface="Times New Roman" panose="02020603050405020304" pitchFamily="18" charset="0"/>
              </a:rPr>
              <a:t>This is also an online Campus selection system using HTML &amp; CSS.</a:t>
            </a:r>
            <a:endParaRPr sz="1800" dirty="0">
              <a:solidFill>
                <a:schemeClr val="dk1"/>
              </a:solidFill>
              <a:latin typeface="+mn-lt"/>
              <a:cs typeface="Times New Roman" panose="02020603050405020304" pitchFamily="18" charset="0"/>
            </a:endParaRPr>
          </a:p>
          <a:p>
            <a:pPr marL="457200" marR="0" lvl="0" indent="-342900" algn="l" rtl="0">
              <a:lnSpc>
                <a:spcPct val="150000"/>
              </a:lnSpc>
              <a:spcBef>
                <a:spcPts val="0"/>
              </a:spcBef>
              <a:spcAft>
                <a:spcPts val="0"/>
              </a:spcAft>
              <a:buClr>
                <a:schemeClr val="dk1"/>
              </a:buClr>
              <a:buSzPts val="1800"/>
              <a:buChar char="●"/>
            </a:pPr>
            <a:r>
              <a:rPr lang="en-US" sz="1800" dirty="0">
                <a:solidFill>
                  <a:schemeClr val="dk1"/>
                </a:solidFill>
                <a:latin typeface="+mn-lt"/>
                <a:cs typeface="Times New Roman" panose="02020603050405020304" pitchFamily="18" charset="0"/>
              </a:rPr>
              <a:t>the online website in not Responsive and not secure.</a:t>
            </a:r>
            <a:endParaRPr sz="1800" dirty="0">
              <a:solidFill>
                <a:schemeClr val="dk1"/>
              </a:solidFill>
              <a:latin typeface="+mn-lt"/>
              <a:cs typeface="Times New Roman" panose="02020603050405020304" pitchFamily="18" charset="0"/>
            </a:endParaRPr>
          </a:p>
          <a:p>
            <a:pPr marL="0" marR="0" lvl="0" indent="0" algn="l" rtl="0">
              <a:spcBef>
                <a:spcPts val="0"/>
              </a:spcBef>
              <a:spcAft>
                <a:spcPts val="0"/>
              </a:spcAft>
              <a:buNone/>
            </a:pPr>
            <a:endParaRPr sz="1800" dirty="0">
              <a:solidFill>
                <a:schemeClr val="dk1"/>
              </a:solidFill>
              <a:latin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9"/>
          <p:cNvSpPr/>
          <p:nvPr/>
        </p:nvSpPr>
        <p:spPr>
          <a:xfrm>
            <a:off x="457200" y="1066680"/>
            <a:ext cx="83811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29"/>
          <p:cNvSpPr/>
          <p:nvPr/>
        </p:nvSpPr>
        <p:spPr>
          <a:xfrm>
            <a:off x="457200" y="533400"/>
            <a:ext cx="8381100" cy="45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3200" b="1">
                <a:solidFill>
                  <a:srgbClr val="C00000"/>
                </a:solidFill>
                <a:latin typeface="Calibri"/>
                <a:ea typeface="Calibri"/>
                <a:cs typeface="Calibri"/>
                <a:sym typeface="Calibri"/>
              </a:rPr>
              <a:t>Problems in Existing Solutions</a:t>
            </a:r>
            <a:endParaRPr sz="3200">
              <a:solidFill>
                <a:srgbClr val="C00000"/>
              </a:solidFill>
              <a:latin typeface="Arial"/>
              <a:ea typeface="Arial"/>
              <a:cs typeface="Arial"/>
              <a:sym typeface="Arial"/>
            </a:endParaRPr>
          </a:p>
        </p:txBody>
      </p:sp>
      <p:sp>
        <p:nvSpPr>
          <p:cNvPr id="179" name="Google Shape;179;p29"/>
          <p:cNvSpPr txBox="1"/>
          <p:nvPr/>
        </p:nvSpPr>
        <p:spPr>
          <a:xfrm>
            <a:off x="723455" y="1600200"/>
            <a:ext cx="7848600" cy="2862282"/>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0"/>
              </a:spcBef>
              <a:spcAft>
                <a:spcPts val="0"/>
              </a:spcAft>
              <a:buClr>
                <a:schemeClr val="dk1"/>
              </a:buClr>
              <a:buSzPts val="1100"/>
              <a:buFont typeface="Arial"/>
              <a:buNone/>
            </a:pPr>
            <a:r>
              <a:rPr lang="en-US" sz="1800" b="1" dirty="0">
                <a:solidFill>
                  <a:schemeClr val="dk1"/>
                </a:solidFill>
                <a:latin typeface="+mn-lt"/>
                <a:cs typeface="Times New Roman" panose="02020603050405020304" pitchFamily="18" charset="0"/>
              </a:rPr>
              <a:t>PROBLEMS IN EXISTING SYSTEM:</a:t>
            </a:r>
            <a:endParaRPr sz="1800" b="1" dirty="0">
              <a:solidFill>
                <a:schemeClr val="dk1"/>
              </a:solidFill>
              <a:latin typeface="+mn-lt"/>
              <a:cs typeface="Times New Roman" panose="02020603050405020304" pitchFamily="18" charset="0"/>
            </a:endParaRPr>
          </a:p>
          <a:p>
            <a:pPr marL="0" lvl="0" indent="0" algn="l" rtl="0">
              <a:lnSpc>
                <a:spcPct val="150000"/>
              </a:lnSpc>
              <a:spcBef>
                <a:spcPts val="0"/>
              </a:spcBef>
              <a:spcAft>
                <a:spcPts val="0"/>
              </a:spcAft>
              <a:buClr>
                <a:schemeClr val="dk1"/>
              </a:buClr>
              <a:buSzPts val="1100"/>
              <a:buFont typeface="Arial"/>
              <a:buNone/>
            </a:pPr>
            <a:r>
              <a:rPr lang="en-US" sz="1800" dirty="0">
                <a:solidFill>
                  <a:schemeClr val="dk1"/>
                </a:solidFill>
                <a:latin typeface="+mn-lt"/>
                <a:cs typeface="Times New Roman" panose="02020603050405020304" pitchFamily="18" charset="0"/>
              </a:rPr>
              <a:t>1. High Volume of Talent Pool</a:t>
            </a:r>
            <a:endParaRPr sz="1800" dirty="0">
              <a:solidFill>
                <a:schemeClr val="dk1"/>
              </a:solidFill>
              <a:latin typeface="+mn-lt"/>
              <a:cs typeface="Times New Roman" panose="02020603050405020304" pitchFamily="18" charset="0"/>
            </a:endParaRPr>
          </a:p>
          <a:p>
            <a:pPr marL="0" lvl="0" indent="0" algn="l" rtl="0">
              <a:lnSpc>
                <a:spcPct val="150000"/>
              </a:lnSpc>
              <a:spcBef>
                <a:spcPts val="0"/>
              </a:spcBef>
              <a:spcAft>
                <a:spcPts val="0"/>
              </a:spcAft>
              <a:buClr>
                <a:schemeClr val="dk1"/>
              </a:buClr>
              <a:buSzPts val="1100"/>
              <a:buFont typeface="Arial"/>
              <a:buNone/>
            </a:pPr>
            <a:r>
              <a:rPr lang="en-US" sz="1800" dirty="0">
                <a:solidFill>
                  <a:schemeClr val="dk1"/>
                </a:solidFill>
                <a:latin typeface="+mn-lt"/>
                <a:cs typeface="Times New Roman" panose="02020603050405020304" pitchFamily="18" charset="0"/>
              </a:rPr>
              <a:t>2. Resumes are the only way to select a candidate</a:t>
            </a:r>
            <a:endParaRPr sz="1800" dirty="0">
              <a:solidFill>
                <a:schemeClr val="dk1"/>
              </a:solidFill>
              <a:latin typeface="+mn-lt"/>
              <a:cs typeface="Times New Roman" panose="02020603050405020304" pitchFamily="18" charset="0"/>
            </a:endParaRPr>
          </a:p>
          <a:p>
            <a:pPr marL="0" lvl="0" indent="0" algn="l" rtl="0">
              <a:lnSpc>
                <a:spcPct val="150000"/>
              </a:lnSpc>
              <a:spcBef>
                <a:spcPts val="0"/>
              </a:spcBef>
              <a:spcAft>
                <a:spcPts val="0"/>
              </a:spcAft>
              <a:buClr>
                <a:schemeClr val="dk1"/>
              </a:buClr>
              <a:buSzPts val="1100"/>
              <a:buFont typeface="Arial"/>
              <a:buNone/>
            </a:pPr>
            <a:r>
              <a:rPr lang="en-US" sz="1800" dirty="0">
                <a:solidFill>
                  <a:schemeClr val="dk1"/>
                </a:solidFill>
                <a:latin typeface="+mn-lt"/>
                <a:cs typeface="Times New Roman" panose="02020603050405020304" pitchFamily="18" charset="0"/>
              </a:rPr>
              <a:t>3. Limited Staff &amp; Time</a:t>
            </a:r>
            <a:endParaRPr sz="1800" dirty="0">
              <a:solidFill>
                <a:schemeClr val="dk1"/>
              </a:solidFill>
              <a:latin typeface="+mn-lt"/>
              <a:cs typeface="Times New Roman" panose="02020603050405020304" pitchFamily="18" charset="0"/>
            </a:endParaRPr>
          </a:p>
          <a:p>
            <a:pPr marL="0" lvl="0" indent="0" algn="l" rtl="0">
              <a:lnSpc>
                <a:spcPct val="150000"/>
              </a:lnSpc>
              <a:spcBef>
                <a:spcPts val="0"/>
              </a:spcBef>
              <a:spcAft>
                <a:spcPts val="0"/>
              </a:spcAft>
              <a:buClr>
                <a:schemeClr val="dk1"/>
              </a:buClr>
              <a:buSzPts val="1100"/>
              <a:buFont typeface="Arial"/>
              <a:buNone/>
            </a:pPr>
            <a:r>
              <a:rPr lang="en-US" sz="1800" dirty="0">
                <a:solidFill>
                  <a:schemeClr val="dk1"/>
                </a:solidFill>
                <a:latin typeface="+mn-lt"/>
                <a:cs typeface="Times New Roman" panose="02020603050405020304" pitchFamily="18" charset="0"/>
              </a:rPr>
              <a:t>4. Employer Branding to attract the younger generation</a:t>
            </a:r>
            <a:endParaRPr sz="1800" dirty="0">
              <a:solidFill>
                <a:schemeClr val="dk1"/>
              </a:solidFill>
              <a:latin typeface="+mn-lt"/>
              <a:cs typeface="Times New Roman" panose="02020603050405020304" pitchFamily="18" charset="0"/>
            </a:endParaRPr>
          </a:p>
          <a:p>
            <a:pPr marL="0" lvl="0" indent="0" algn="l" rtl="0">
              <a:lnSpc>
                <a:spcPct val="150000"/>
              </a:lnSpc>
              <a:spcBef>
                <a:spcPts val="0"/>
              </a:spcBef>
              <a:spcAft>
                <a:spcPts val="0"/>
              </a:spcAft>
              <a:buClr>
                <a:schemeClr val="dk1"/>
              </a:buClr>
              <a:buSzPts val="1100"/>
              <a:buFont typeface="Arial"/>
              <a:buNone/>
            </a:pPr>
            <a:r>
              <a:rPr lang="en-US" sz="1800" dirty="0">
                <a:solidFill>
                  <a:schemeClr val="dk1"/>
                </a:solidFill>
                <a:latin typeface="+mn-lt"/>
                <a:cs typeface="Times New Roman" panose="02020603050405020304" pitchFamily="18" charset="0"/>
              </a:rPr>
              <a:t>5. Outdated recruiting practices</a:t>
            </a:r>
            <a:endParaRPr sz="1800" dirty="0">
              <a:solidFill>
                <a:schemeClr val="dk1"/>
              </a:solidFill>
              <a:latin typeface="+mn-lt"/>
              <a:cs typeface="Times New Roman" panose="02020603050405020304" pitchFamily="18" charset="0"/>
            </a:endParaRPr>
          </a:p>
          <a:p>
            <a:pPr marL="0" marR="0" lvl="0" indent="0" algn="l" rtl="0">
              <a:spcBef>
                <a:spcPts val="0"/>
              </a:spcBef>
              <a:spcAft>
                <a:spcPts val="0"/>
              </a:spcAft>
              <a:buNone/>
            </a:pPr>
            <a:endParaRPr sz="1800" dirty="0">
              <a:solidFill>
                <a:schemeClr val="dk1"/>
              </a:solidFill>
              <a:latin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p:nvPr/>
        </p:nvSpPr>
        <p:spPr>
          <a:xfrm>
            <a:off x="228600" y="3505800"/>
            <a:ext cx="80766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6" name="Google Shape;156;p26"/>
          <p:cNvSpPr/>
          <p:nvPr/>
        </p:nvSpPr>
        <p:spPr>
          <a:xfrm>
            <a:off x="169179" y="2852657"/>
            <a:ext cx="8974821" cy="1306286"/>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3500" b="1" dirty="0">
                <a:solidFill>
                  <a:schemeClr val="tx1"/>
                </a:solidFill>
                <a:latin typeface="Arial Black"/>
                <a:ea typeface="Arial Black"/>
                <a:cs typeface="Arial Black"/>
                <a:sym typeface="Arial Black"/>
              </a:rPr>
              <a:t>Implementation of Existing system</a:t>
            </a:r>
            <a:endParaRPr lang="en-US" sz="3500" dirty="0">
              <a:solidFill>
                <a:schemeClr val="tx1"/>
              </a:solidFill>
              <a:latin typeface="Arial Black"/>
              <a:ea typeface="Arial Black"/>
              <a:cs typeface="Arial Black"/>
              <a:sym typeface="Arial Black"/>
            </a:endParaRPr>
          </a:p>
        </p:txBody>
      </p:sp>
      <p:sp>
        <p:nvSpPr>
          <p:cNvPr id="157" name="Google Shape;157;p26"/>
          <p:cNvSpPr/>
          <p:nvPr/>
        </p:nvSpPr>
        <p:spPr>
          <a:xfrm>
            <a:off x="685800" y="1357800"/>
            <a:ext cx="7619400" cy="77580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638625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p:nvPr/>
        </p:nvSpPr>
        <p:spPr>
          <a:xfrm>
            <a:off x="174772" y="931370"/>
            <a:ext cx="80766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1" name="Google Shape;171;p28"/>
          <p:cNvSpPr/>
          <p:nvPr/>
        </p:nvSpPr>
        <p:spPr>
          <a:xfrm>
            <a:off x="0" y="246856"/>
            <a:ext cx="10336072" cy="7602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3600" b="1" dirty="0">
                <a:solidFill>
                  <a:srgbClr val="C00000"/>
                </a:solidFill>
                <a:latin typeface="Arial Black"/>
                <a:ea typeface="Arial Black"/>
                <a:cs typeface="Arial Black"/>
                <a:sym typeface="Arial Black"/>
              </a:rPr>
              <a:t>Implementation of Existing system</a:t>
            </a:r>
            <a:endParaRPr lang="en-US" sz="3600" dirty="0">
              <a:solidFill>
                <a:srgbClr val="C00000"/>
              </a:solidFill>
              <a:latin typeface="Arial Black"/>
              <a:ea typeface="Arial Black"/>
              <a:cs typeface="Arial Black"/>
              <a:sym typeface="Arial Black"/>
            </a:endParaRPr>
          </a:p>
        </p:txBody>
      </p:sp>
      <p:sp>
        <p:nvSpPr>
          <p:cNvPr id="172" name="Google Shape;172;p28"/>
          <p:cNvSpPr/>
          <p:nvPr/>
        </p:nvSpPr>
        <p:spPr>
          <a:xfrm>
            <a:off x="0" y="1006970"/>
            <a:ext cx="8610000" cy="5348400"/>
          </a:xfrm>
          <a:prstGeom prst="rect">
            <a:avLst/>
          </a:prstGeom>
          <a:noFill/>
          <a:ln>
            <a:noFill/>
          </a:ln>
        </p:spPr>
        <p:txBody>
          <a:bodyPr spcFirstLastPara="1" wrap="square" lIns="90000" tIns="45000" rIns="90000" bIns="45000" anchor="t" anchorCtr="0">
            <a:noAutofit/>
          </a:bodyPr>
          <a:lstStyle/>
          <a:p>
            <a:pPr marL="342900" indent="-342900" algn="just">
              <a:lnSpc>
                <a:spcPct val="150000"/>
              </a:lnSpc>
              <a:buFont typeface="Arial" panose="020B0604020202020204" pitchFamily="34" charset="0"/>
              <a:buChar char="•"/>
            </a:pPr>
            <a:r>
              <a:rPr lang="en-US" sz="1800" dirty="0">
                <a:latin typeface="+mn-lt"/>
                <a:cs typeface="Times New Roman" panose="02020603050405020304" pitchFamily="18" charset="0"/>
              </a:rPr>
              <a:t>The  implementation  of  the  existing  Campus Selection System involves </a:t>
            </a:r>
            <a:r>
              <a:rPr lang="en-US" sz="1800" b="0" i="0" dirty="0">
                <a:effectLst/>
                <a:latin typeface="+mn-lt"/>
                <a:cs typeface="Times New Roman" panose="02020603050405020304" pitchFamily="18" charset="0"/>
              </a:rPr>
              <a:t>Setting up and configuring the hardware and software components for the online campus selection system, such as web servers, databases, network connection.</a:t>
            </a:r>
            <a:endParaRPr lang="en-US" sz="1800" dirty="0">
              <a:latin typeface="+mn-lt"/>
              <a:cs typeface="Times New Roman" panose="02020603050405020304" pitchFamily="18" charset="0"/>
            </a:endParaRPr>
          </a:p>
          <a:p>
            <a:pPr marL="342900" indent="-342900" algn="just">
              <a:lnSpc>
                <a:spcPct val="150000"/>
              </a:lnSpc>
              <a:buFont typeface="Arial" panose="020B0604020202020204" pitchFamily="34" charset="0"/>
              <a:buChar char="•"/>
            </a:pPr>
            <a:r>
              <a:rPr lang="en-US" sz="1800" b="0" i="0" dirty="0">
                <a:effectLst/>
                <a:latin typeface="+mn-lt"/>
                <a:cs typeface="Times New Roman" panose="02020603050405020304" pitchFamily="18" charset="0"/>
              </a:rPr>
              <a:t>Designing the user interface and functionality of the system, such as creating course selection tasks, displaying course selection tasks, selecting courses, viewing course selection results, etc., and providing a user-friendly and intuitive experience for both teachers and students</a:t>
            </a:r>
          </a:p>
          <a:p>
            <a:pPr marL="342900" indent="-342900" algn="just">
              <a:lnSpc>
                <a:spcPct val="150000"/>
              </a:lnSpc>
              <a:buFont typeface="Arial" panose="020B0604020202020204" pitchFamily="34" charset="0"/>
              <a:buChar char="•"/>
            </a:pPr>
            <a:r>
              <a:rPr lang="en-US" sz="1800" b="0" i="0" dirty="0">
                <a:effectLst/>
                <a:latin typeface="+mn-lt"/>
                <a:cs typeface="Times New Roman" panose="02020603050405020304" pitchFamily="18" charset="0"/>
              </a:rPr>
              <a:t>Integrating the system with existing software and data sources, such as student information systems, course management systems and ensuring the accuracy and consistency of the data</a:t>
            </a:r>
            <a:r>
              <a:rPr lang="en-US" sz="1800" dirty="0">
                <a:latin typeface="+mn-lt"/>
                <a:cs typeface="Times New Roman" panose="02020603050405020304" pitchFamily="18" charset="0"/>
              </a:rPr>
              <a:t> </a:t>
            </a:r>
          </a:p>
          <a:p>
            <a:pPr marL="342900" indent="-342900" algn="l">
              <a:lnSpc>
                <a:spcPct val="150000"/>
              </a:lnSpc>
              <a:buFont typeface="Arial" panose="020B0604020202020204" pitchFamily="34" charset="0"/>
              <a:buChar char="•"/>
            </a:pPr>
            <a:r>
              <a:rPr lang="en-US" sz="1800" b="0" i="0" dirty="0">
                <a:effectLst/>
                <a:latin typeface="+mn-lt"/>
                <a:cs typeface="Times New Roman" panose="02020603050405020304" pitchFamily="18" charset="0"/>
              </a:rPr>
              <a:t>Conducting rigorous testing and debugging of the system, such as performing unit testing, integration testing, system testing, user acceptance testing, etc., and resolving any errors or issues that may arise.</a:t>
            </a:r>
          </a:p>
          <a:p>
            <a:pPr marL="285750" marR="0" lvl="0" indent="-285750" algn="l" rtl="0">
              <a:lnSpc>
                <a:spcPct val="100000"/>
              </a:lnSpc>
              <a:spcBef>
                <a:spcPts val="0"/>
              </a:spcBef>
              <a:spcAft>
                <a:spcPts val="0"/>
              </a:spcAft>
              <a:buFont typeface="Arial" panose="020B0604020202020204" pitchFamily="34" charset="0"/>
              <a:buChar char="•"/>
            </a:pPr>
            <a:endParaRPr sz="1800" dirty="0">
              <a:solidFill>
                <a:schemeClr val="dk1"/>
              </a:solidFill>
              <a:latin typeface="+mn-lt"/>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9"/>
          <p:cNvSpPr/>
          <p:nvPr/>
        </p:nvSpPr>
        <p:spPr>
          <a:xfrm>
            <a:off x="457200" y="799170"/>
            <a:ext cx="83811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29"/>
          <p:cNvSpPr/>
          <p:nvPr/>
        </p:nvSpPr>
        <p:spPr>
          <a:xfrm>
            <a:off x="457200" y="228600"/>
            <a:ext cx="8381100" cy="45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3200" b="1" dirty="0">
                <a:solidFill>
                  <a:srgbClr val="C00000"/>
                </a:solidFill>
                <a:latin typeface="Calibri"/>
                <a:ea typeface="Calibri"/>
                <a:cs typeface="Calibri"/>
                <a:sym typeface="Calibri"/>
              </a:rPr>
              <a:t>Results</a:t>
            </a:r>
            <a:endParaRPr sz="3200" dirty="0">
              <a:solidFill>
                <a:srgbClr val="C00000"/>
              </a:solidFill>
              <a:latin typeface="Arial"/>
              <a:ea typeface="Arial"/>
              <a:cs typeface="Arial"/>
              <a:sym typeface="Arial"/>
            </a:endParaRPr>
          </a:p>
        </p:txBody>
      </p:sp>
      <p:sp>
        <p:nvSpPr>
          <p:cNvPr id="179" name="Google Shape;179;p29"/>
          <p:cNvSpPr txBox="1"/>
          <p:nvPr/>
        </p:nvSpPr>
        <p:spPr>
          <a:xfrm>
            <a:off x="457200" y="799170"/>
            <a:ext cx="7848600" cy="6186269"/>
          </a:xfrm>
          <a:prstGeom prst="rect">
            <a:avLst/>
          </a:prstGeom>
          <a:noFill/>
          <a:ln>
            <a:noFill/>
          </a:ln>
        </p:spPr>
        <p:txBody>
          <a:bodyPr spcFirstLastPara="1" wrap="square" lIns="91425" tIns="45700" rIns="91425" bIns="45700" anchor="t" anchorCtr="0">
            <a:spAutoFit/>
          </a:bodyPr>
          <a:lstStyle/>
          <a:p>
            <a:pPr algn="l">
              <a:lnSpc>
                <a:spcPct val="150000"/>
              </a:lnSpc>
              <a:buFont typeface="Arial" panose="020B0604020202020204" pitchFamily="34" charset="0"/>
              <a:buChar char="•"/>
            </a:pPr>
            <a:r>
              <a:rPr lang="en-US" sz="1800" b="0" i="0" dirty="0">
                <a:effectLst/>
                <a:latin typeface="+mn-lt"/>
                <a:cs typeface="Times New Roman" panose="02020603050405020304" pitchFamily="18" charset="0"/>
              </a:rPr>
              <a:t>The campus selection system has improved the quality and efficiency of course selection within the institution, reducing errors and conflicts associated with manual methods and providing a user-friendly and intuitive interface for both teachers and students.</a:t>
            </a:r>
          </a:p>
          <a:p>
            <a:pPr algn="l">
              <a:lnSpc>
                <a:spcPct val="150000"/>
              </a:lnSpc>
              <a:buFont typeface="Arial" panose="020B0604020202020204" pitchFamily="34" charset="0"/>
              <a:buChar char="•"/>
            </a:pPr>
            <a:r>
              <a:rPr lang="en-US" sz="1800" b="0" i="0" dirty="0">
                <a:effectLst/>
                <a:latin typeface="+mn-lt"/>
                <a:cs typeface="Times New Roman" panose="02020603050405020304" pitchFamily="18" charset="0"/>
              </a:rPr>
              <a:t>The system has enhanced the security and privacy of course selection data, requiring user login IDs and passwords to access the system and encrypting the data transmission and storage. The system also allows users to view and modify their course selection tasks and results at any time.</a:t>
            </a:r>
          </a:p>
          <a:p>
            <a:pPr algn="l">
              <a:lnSpc>
                <a:spcPct val="150000"/>
              </a:lnSpc>
              <a:buFont typeface="Arial" panose="020B0604020202020204" pitchFamily="34" charset="0"/>
              <a:buChar char="•"/>
            </a:pPr>
            <a:r>
              <a:rPr lang="en-US" sz="1800" b="0" i="0" dirty="0">
                <a:effectLst/>
                <a:latin typeface="+mn-lt"/>
                <a:cs typeface="Times New Roman" panose="02020603050405020304" pitchFamily="18" charset="0"/>
              </a:rPr>
              <a:t>The system has seamlessly integrated with existing software systems, such as student information systems allowing for efficient data synchronization and analysis. The system also offers a cost-effective, scalable, and customizable solution that can be adapted to different needs and preferences of the institution.</a:t>
            </a:r>
          </a:p>
          <a:p>
            <a:pPr marL="0" marR="0" lvl="0" indent="0" algn="l" rtl="0">
              <a:spcBef>
                <a:spcPts val="0"/>
              </a:spcBef>
              <a:spcAft>
                <a:spcPts val="0"/>
              </a:spcAft>
              <a:buNone/>
            </a:pPr>
            <a:endParaRPr sz="1800" dirty="0">
              <a:solidFill>
                <a:schemeClr val="dk1"/>
              </a:solidFill>
              <a:latin typeface="+mn-lt"/>
            </a:endParaRPr>
          </a:p>
        </p:txBody>
      </p:sp>
    </p:spTree>
    <p:extLst>
      <p:ext uri="{BB962C8B-B14F-4D97-AF65-F5344CB8AC3E}">
        <p14:creationId xmlns:p14="http://schemas.microsoft.com/office/powerpoint/2010/main" val="3824028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p:nvPr/>
        </p:nvSpPr>
        <p:spPr>
          <a:xfrm>
            <a:off x="686400" y="3581400"/>
            <a:ext cx="807660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 name="Google Shape;186;p30"/>
          <p:cNvSpPr/>
          <p:nvPr/>
        </p:nvSpPr>
        <p:spPr>
          <a:xfrm>
            <a:off x="1448640" y="2819400"/>
            <a:ext cx="8152500" cy="7602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4400" b="1">
                <a:latin typeface="Arial Black"/>
                <a:ea typeface="Arial Black"/>
                <a:cs typeface="Arial Black"/>
                <a:sym typeface="Arial Black"/>
              </a:rPr>
              <a:t>           Conclusion</a:t>
            </a:r>
            <a:r>
              <a:rPr lang="en-US" sz="4400" b="1">
                <a:solidFill>
                  <a:srgbClr val="000000"/>
                </a:solidFill>
                <a:latin typeface="Arial Black"/>
                <a:ea typeface="Arial Black"/>
                <a:cs typeface="Arial Black"/>
                <a:sym typeface="Arial Black"/>
              </a:rPr>
              <a:t> </a:t>
            </a:r>
            <a:endParaRPr sz="1800">
              <a:solidFill>
                <a:schemeClr val="dk1"/>
              </a:solidFill>
              <a:latin typeface="Arial Black"/>
              <a:ea typeface="Arial Black"/>
              <a:cs typeface="Arial Black"/>
              <a:sym typeface="Arial Black"/>
            </a:endParaRPr>
          </a:p>
        </p:txBody>
      </p:sp>
      <p:sp>
        <p:nvSpPr>
          <p:cNvPr id="187" name="Google Shape;187;p30"/>
          <p:cNvSpPr/>
          <p:nvPr/>
        </p:nvSpPr>
        <p:spPr>
          <a:xfrm>
            <a:off x="685800" y="1357800"/>
            <a:ext cx="7619400" cy="77580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p:nvPr/>
        </p:nvSpPr>
        <p:spPr>
          <a:xfrm>
            <a:off x="457200" y="1066680"/>
            <a:ext cx="838116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31"/>
          <p:cNvSpPr/>
          <p:nvPr/>
        </p:nvSpPr>
        <p:spPr>
          <a:xfrm>
            <a:off x="457200" y="533400"/>
            <a:ext cx="8381160" cy="4557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3200" b="1" dirty="0">
                <a:solidFill>
                  <a:srgbClr val="C00000"/>
                </a:solidFill>
                <a:latin typeface="Calibri"/>
                <a:ea typeface="Calibri"/>
                <a:cs typeface="Calibri"/>
                <a:sym typeface="Calibri"/>
              </a:rPr>
              <a:t>Conclusion</a:t>
            </a:r>
            <a:endParaRPr sz="3200" dirty="0">
              <a:solidFill>
                <a:srgbClr val="C00000"/>
              </a:solidFill>
              <a:latin typeface="Arial"/>
              <a:ea typeface="Arial"/>
              <a:cs typeface="Arial"/>
              <a:sym typeface="Arial"/>
            </a:endParaRPr>
          </a:p>
        </p:txBody>
      </p:sp>
      <p:sp>
        <p:nvSpPr>
          <p:cNvPr id="194" name="Google Shape;194;p31"/>
          <p:cNvSpPr txBox="1"/>
          <p:nvPr/>
        </p:nvSpPr>
        <p:spPr>
          <a:xfrm>
            <a:off x="723480" y="1600200"/>
            <a:ext cx="7848600" cy="300078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dirty="0">
                <a:solidFill>
                  <a:schemeClr val="dk1"/>
                </a:solidFill>
                <a:latin typeface="+mn-lt"/>
                <a:cs typeface="Times New Roman" panose="02020603050405020304" pitchFamily="18" charset="0"/>
                <a:sym typeface="Arial"/>
              </a:rPr>
              <a:t>It is user friendly .Generally the TPO’s of the colleges has to face lot of problems in management of the student’s information. This all information has to be managed manually. So, there is a need to develop a system that can be solve the mentioned problem. Recruiter can visit any time through this application and communicate with placement officer. Placement officer and contact with both students and company through message. Student and company can also send messages to placement officer.</a:t>
            </a:r>
            <a:endParaRPr sz="1800" dirty="0">
              <a:solidFill>
                <a:schemeClr val="dk1"/>
              </a:solidFill>
              <a:latin typeface="+mn-lt"/>
              <a:cs typeface="Times New Roman" panose="02020603050405020304" pitchFamily="18" charset="0"/>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p:nvPr/>
        </p:nvSpPr>
        <p:spPr>
          <a:xfrm>
            <a:off x="457200" y="1067400"/>
            <a:ext cx="8381160" cy="75600"/>
          </a:xfrm>
          <a:prstGeom prst="rect">
            <a:avLst/>
          </a:prstGeom>
          <a:solidFill>
            <a:srgbClr val="7030A0"/>
          </a:solidFill>
          <a:ln w="2555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0" name="Google Shape;200;p32"/>
          <p:cNvSpPr/>
          <p:nvPr/>
        </p:nvSpPr>
        <p:spPr>
          <a:xfrm>
            <a:off x="457199" y="533400"/>
            <a:ext cx="2416629" cy="584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rgbClr val="C00000"/>
                </a:solidFill>
                <a:latin typeface="Calibri"/>
                <a:ea typeface="Calibri"/>
                <a:cs typeface="Calibri"/>
                <a:sym typeface="Calibri"/>
              </a:rPr>
              <a:t>References</a:t>
            </a:r>
            <a:endParaRPr sz="3200" dirty="0">
              <a:solidFill>
                <a:srgbClr val="C00000"/>
              </a:solidFill>
              <a:latin typeface="Calibri"/>
              <a:ea typeface="Calibri"/>
              <a:cs typeface="Calibri"/>
              <a:sym typeface="Calibri"/>
            </a:endParaRPr>
          </a:p>
        </p:txBody>
      </p:sp>
      <p:sp>
        <p:nvSpPr>
          <p:cNvPr id="201" name="Google Shape;201;p32"/>
          <p:cNvSpPr txBox="1"/>
          <p:nvPr/>
        </p:nvSpPr>
        <p:spPr>
          <a:xfrm>
            <a:off x="457200" y="1600200"/>
            <a:ext cx="8381160" cy="341632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3"/>
              </a:rPr>
              <a:t>www.eci.gov.in</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4"/>
              </a:rPr>
              <a:t>www.goggle.com</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5"/>
              </a:rPr>
              <a:t>www.tutorialpoints.com/java/</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6"/>
              </a:rPr>
              <a:t>www.askjeeves.com</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7"/>
              </a:rPr>
              <a:t>www.apeci.com</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8"/>
              </a:rPr>
              <a:t>www.w3schools.com</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9"/>
              </a:rPr>
              <a:t>www.Wikipedia.com</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10"/>
              </a:rPr>
              <a:t>www.jdbc-tutuorials.com</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11"/>
              </a:rPr>
              <a:t>www.JSP.net</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12"/>
              </a:rPr>
              <a:t>www.xamppserver.com</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13"/>
              </a:rPr>
              <a:t>www.apache.org</a:t>
            </a:r>
            <a:endParaRPr sz="1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800"/>
              <a:buFont typeface="Arial"/>
              <a:buChar char="•"/>
            </a:pPr>
            <a:r>
              <a:rPr lang="en-US" sz="1800" u="sng">
                <a:solidFill>
                  <a:schemeClr val="hlink"/>
                </a:solidFill>
                <a:latin typeface="Times New Roman"/>
                <a:ea typeface="Times New Roman"/>
                <a:cs typeface="Times New Roman"/>
                <a:sym typeface="Times New Roman"/>
                <a:hlinkClick r:id="rId14"/>
              </a:rPr>
              <a:t>www.tutorialpoints.com/mysql</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p:nvPr/>
        </p:nvSpPr>
        <p:spPr>
          <a:xfrm>
            <a:off x="957943" y="1665514"/>
            <a:ext cx="6771598"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b="1" cap="none" dirty="0">
                <a:solidFill>
                  <a:schemeClr val="dk1"/>
                </a:solidFill>
                <a:latin typeface="Arial"/>
                <a:ea typeface="Arial"/>
                <a:cs typeface="Arial"/>
                <a:sym typeface="Arial"/>
              </a:rPr>
              <a:t>Thank You!</a:t>
            </a:r>
            <a:endParaRPr b="1" dirty="0">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1292</Words>
  <Application>Microsoft Office PowerPoint</Application>
  <PresentationFormat>On-screen Show (4:3)</PresentationFormat>
  <Paragraphs>110</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Times New Roman</vt:lpstr>
      <vt:lpstr>Arial Black</vt:lpstr>
      <vt:lpstr>Calibri</vt:lpstr>
      <vt:lpstr>Arial</vt:lpstr>
      <vt:lpstr>Bookman Old Style</vt:lpstr>
      <vt:lpstr>Noto Sans Symbols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swetha panaganti</dc:creator>
  <cp:lastModifiedBy>swetha panaganti</cp:lastModifiedBy>
  <cp:revision>1</cp:revision>
  <dcterms:modified xsi:type="dcterms:W3CDTF">2023-10-30T16:56:48Z</dcterms:modified>
</cp:coreProperties>
</file>